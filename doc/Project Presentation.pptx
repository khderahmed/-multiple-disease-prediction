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2" r:id="rId1"/>
  </p:sldMasterIdLst>
  <p:notesMasterIdLst>
    <p:notesMasterId r:id="rId19"/>
  </p:notesMasterIdLst>
  <p:sldIdLst>
    <p:sldId id="256" r:id="rId2"/>
    <p:sldId id="258" r:id="rId3"/>
    <p:sldId id="260" r:id="rId4"/>
    <p:sldId id="262" r:id="rId5"/>
    <p:sldId id="261" r:id="rId6"/>
    <p:sldId id="257" r:id="rId7"/>
    <p:sldId id="264" r:id="rId8"/>
    <p:sldId id="274" r:id="rId9"/>
    <p:sldId id="275" r:id="rId10"/>
    <p:sldId id="276" r:id="rId11"/>
    <p:sldId id="263" r:id="rId12"/>
    <p:sldId id="271" r:id="rId13"/>
    <p:sldId id="272" r:id="rId14"/>
    <p:sldId id="265" r:id="rId15"/>
    <p:sldId id="267" r:id="rId16"/>
    <p:sldId id="277" r:id="rId17"/>
    <p:sldId id="268"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898" autoAdjust="0"/>
  </p:normalViewPr>
  <p:slideViewPr>
    <p:cSldViewPr>
      <p:cViewPr varScale="1">
        <p:scale>
          <a:sx n="90" d="100"/>
          <a:sy n="90" d="100"/>
        </p:scale>
        <p:origin x="1234"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20CCB60-7EC5-4193-B8A3-8DF2BDFDC416}" type="datetimeFigureOut">
              <a:rPr lang="en-US" smtClean="0"/>
              <a:t>10/23/2026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EA0A79-F128-4438-A9BC-F92DF12C8273}" type="slidenum">
              <a:rPr lang="en-US" smtClean="0"/>
              <a:t>‹#›</a:t>
            </a:fld>
            <a:endParaRPr lang="en-US"/>
          </a:p>
        </p:txBody>
      </p:sp>
    </p:spTree>
    <p:extLst>
      <p:ext uri="{BB962C8B-B14F-4D97-AF65-F5344CB8AC3E}">
        <p14:creationId xmlns:p14="http://schemas.microsoft.com/office/powerpoint/2010/main" val="3727717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EA0A79-F128-4438-A9BC-F92DF12C8273}" type="slidenum">
              <a:rPr lang="en-US" smtClean="0"/>
              <a:t>14</a:t>
            </a:fld>
            <a:endParaRPr lang="en-US"/>
          </a:p>
        </p:txBody>
      </p:sp>
    </p:spTree>
    <p:extLst>
      <p:ext uri="{BB962C8B-B14F-4D97-AF65-F5344CB8AC3E}">
        <p14:creationId xmlns:p14="http://schemas.microsoft.com/office/powerpoint/2010/main" val="39628166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2308"/>
            <a:ext cx="9144000" cy="6860308"/>
            <a:chOff x="0" y="-2308"/>
            <a:chExt cx="9144000" cy="6860308"/>
          </a:xfrm>
        </p:grpSpPr>
        <p:sp>
          <p:nvSpPr>
            <p:cNvPr id="8" name="Rectangle 7"/>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8"/>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Oval 10"/>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1" y="2222624"/>
            <a:ext cx="5917679" cy="2554758"/>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1" y="4777380"/>
            <a:ext cx="5917679"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7500385" y="1828799"/>
            <a:ext cx="990599" cy="228659"/>
          </a:xfrm>
        </p:spPr>
        <p:txBody>
          <a:bodyPr anchor="t" anchorCtr="0"/>
          <a:lstStyle>
            <a:lvl1pPr algn="l">
              <a:defRPr b="0" i="0">
                <a:solidFill>
                  <a:schemeClr val="bg1"/>
                </a:solidFill>
              </a:defRPr>
            </a:lvl1p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a:xfrm rot="5400000">
            <a:off x="6236209" y="3264406"/>
            <a:ext cx="3859795" cy="228660"/>
          </a:xfrm>
        </p:spPr>
        <p:txBody>
          <a:bodyPr/>
          <a:lstStyle>
            <a:lvl1pPr>
              <a:defRPr>
                <a:solidFill>
                  <a:schemeClr val="bg1"/>
                </a:solidFill>
              </a:defRPr>
            </a:lvl1p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5279" y="292609"/>
            <a:ext cx="628813" cy="767687"/>
          </a:xfrm>
        </p:spPr>
        <p:txBody>
          <a:bodyPr/>
          <a:lstStyle>
            <a:lvl1pPr>
              <a:defRPr sz="2800" b="0" i="0" baseline="0">
                <a:latin typeface="+mj-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253189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lvl1pPr>
              <a:defRPr sz="900"/>
            </a:lvl1p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59920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0" name="Group 9"/>
          <p:cNvGrpSpPr/>
          <p:nvPr/>
        </p:nvGrpSpPr>
        <p:grpSpPr>
          <a:xfrm>
            <a:off x="0" y="-2308"/>
            <a:ext cx="9144000" cy="6860308"/>
            <a:chOff x="0" y="-2308"/>
            <a:chExt cx="9144000" cy="6860308"/>
          </a:xfrm>
        </p:grpSpPr>
        <p:sp>
          <p:nvSpPr>
            <p:cNvPr id="11" name="Rectangle 10"/>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Rectangle 6"/>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7"/>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2257588"/>
            <a:ext cx="3101765" cy="3020343"/>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54653" cy="302034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56315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199"/>
            <a:ext cx="3636980" cy="353060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0" y="2489199"/>
            <a:ext cx="3636981" cy="35306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9378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3636979"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66441" y="3248490"/>
            <a:ext cx="3636978" cy="277131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80"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0581" y="3248490"/>
            <a:ext cx="3636979" cy="277131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07791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6549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05439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1" name="Group 10"/>
          <p:cNvGrpSpPr/>
          <p:nvPr/>
        </p:nvGrpSpPr>
        <p:grpSpPr>
          <a:xfrm>
            <a:off x="0" y="-2308"/>
            <a:ext cx="9144000" cy="6860308"/>
            <a:chOff x="0" y="-2308"/>
            <a:chExt cx="9144000" cy="6860308"/>
          </a:xfrm>
        </p:grpSpPr>
        <p:sp>
          <p:nvSpPr>
            <p:cNvPr id="12" name="Rectangle 11"/>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97437"/>
            <a:ext cx="2712589"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52881"/>
            <a:ext cx="3632850"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086844"/>
            <a:ext cx="2712590" cy="2925413"/>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66770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1" name="Group 10"/>
          <p:cNvGrpSpPr/>
          <p:nvPr/>
        </p:nvGrpSpPr>
        <p:grpSpPr>
          <a:xfrm>
            <a:off x="0" y="-2308"/>
            <a:ext cx="9144000" cy="6860308"/>
            <a:chOff x="0" y="-2308"/>
            <a:chExt cx="9144000" cy="6860308"/>
          </a:xfrm>
        </p:grpSpPr>
        <p:sp>
          <p:nvSpPr>
            <p:cNvPr id="12" name="Rectangle 11"/>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2" y="1362190"/>
            <a:ext cx="2987087"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51591" y="3088562"/>
            <a:ext cx="3001938" cy="2448637"/>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66067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1" name="Group 10"/>
          <p:cNvGrpSpPr/>
          <p:nvPr/>
        </p:nvGrpSpPr>
        <p:grpSpPr>
          <a:xfrm>
            <a:off x="0" y="-2308"/>
            <a:ext cx="9144000" cy="6860308"/>
            <a:chOff x="0" y="-2308"/>
            <a:chExt cx="9144000" cy="6860308"/>
          </a:xfrm>
        </p:grpSpPr>
        <p:sp>
          <p:nvSpPr>
            <p:cNvPr id="12" name="Rectangle 11"/>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3" y="4961453"/>
            <a:ext cx="6422002"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528191"/>
            <a:ext cx="6422003"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70493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0" y="-2308"/>
            <a:ext cx="9144000" cy="6860308"/>
            <a:chOff x="0" y="-2308"/>
            <a:chExt cx="9144000" cy="6860308"/>
          </a:xfrm>
        </p:grpSpPr>
        <p:sp>
          <p:nvSpPr>
            <p:cNvPr id="11" name="Rectangle 10"/>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Rectangle 13"/>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2"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927100"/>
            <a:ext cx="6422004" cy="1653117"/>
          </a:xfrm>
        </p:spPr>
        <p:txBody>
          <a:bodyPr anchor="ct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1" y="3509006"/>
            <a:ext cx="6422003" cy="2515873"/>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18" name="Rectangle 1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841159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2308"/>
            <a:ext cx="9144000" cy="6860308"/>
            <a:chOff x="0" y="-2308"/>
            <a:chExt cx="9144000" cy="6860308"/>
          </a:xfrm>
        </p:grpSpPr>
        <p:sp>
          <p:nvSpPr>
            <p:cNvPr id="13" name="Rectangle 12"/>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5"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6" name="Freeform 35"/>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1"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10" name="TextBox 9"/>
          <p:cNvSpPr txBox="1"/>
          <p:nvPr/>
        </p:nvSpPr>
        <p:spPr>
          <a:xfrm>
            <a:off x="644721" y="654263"/>
            <a:ext cx="601591"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11" name="TextBox 10"/>
          <p:cNvSpPr txBox="1"/>
          <p:nvPr/>
        </p:nvSpPr>
        <p:spPr>
          <a:xfrm>
            <a:off x="7227454" y="2900539"/>
            <a:ext cx="538973"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2" name="Title 1"/>
          <p:cNvSpPr>
            <a:spLocks noGrp="1"/>
          </p:cNvSpPr>
          <p:nvPr>
            <p:ph type="title"/>
          </p:nvPr>
        </p:nvSpPr>
        <p:spPr>
          <a:xfrm>
            <a:off x="1128059" y="914401"/>
            <a:ext cx="6160385" cy="2894878"/>
          </a:xfrm>
        </p:spPr>
        <p:txBody>
          <a:bodyP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a:xfrm>
            <a:off x="1387279" y="3814473"/>
            <a:ext cx="5646142" cy="333113"/>
          </a:xfrm>
        </p:spPr>
        <p:txBody>
          <a:bodyPr>
            <a:normAutofit/>
          </a:bodyPr>
          <a:lstStyle>
            <a:lvl1pPr marL="0" indent="0">
              <a:buNone/>
              <a:defRPr lang="en-US" sz="1400" b="0" i="0" kern="1200" cap="small" dirty="0">
                <a:solidFill>
                  <a:schemeClr val="accent1"/>
                </a:solidFill>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6" name="Text Placeholder 3"/>
          <p:cNvSpPr>
            <a:spLocks noGrp="1"/>
          </p:cNvSpPr>
          <p:nvPr>
            <p:ph type="body" sz="half" idx="2"/>
          </p:nvPr>
        </p:nvSpPr>
        <p:spPr>
          <a:xfrm>
            <a:off x="866440" y="5000815"/>
            <a:ext cx="6422005" cy="1024065"/>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lvl1pPr>
              <a:defRPr sz="900"/>
            </a:lvl1p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lvl1pPr>
              <a:defRPr sz="900"/>
            </a:lvl1pPr>
          </a:lstStyle>
          <a:p>
            <a:endParaRPr lang="en-US"/>
          </a:p>
        </p:txBody>
      </p:sp>
      <p:sp>
        <p:nvSpPr>
          <p:cNvPr id="43" name="Rectangle 42"/>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15735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7" name="Group 6"/>
          <p:cNvGrpSpPr/>
          <p:nvPr/>
        </p:nvGrpSpPr>
        <p:grpSpPr>
          <a:xfrm>
            <a:off x="0" y="-2308"/>
            <a:ext cx="9144000" cy="6860308"/>
            <a:chOff x="0" y="-2308"/>
            <a:chExt cx="9144000" cy="6860308"/>
          </a:xfrm>
        </p:grpSpPr>
        <p:sp>
          <p:nvSpPr>
            <p:cNvPr id="10" name="Rectangle 9"/>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11"/>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2057399"/>
            <a:ext cx="6422004" cy="209550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159399"/>
            <a:ext cx="6422004"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15" name="Rectangle 1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273532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8884" y="927101"/>
            <a:ext cx="6423592"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8884" y="2489199"/>
            <a:ext cx="2310988"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2" name="Text Placeholder 3"/>
          <p:cNvSpPr>
            <a:spLocks noGrp="1"/>
          </p:cNvSpPr>
          <p:nvPr>
            <p:ph type="body" sz="half" idx="15"/>
          </p:nvPr>
        </p:nvSpPr>
        <p:spPr>
          <a:xfrm>
            <a:off x="868884" y="3147164"/>
            <a:ext cx="2310988" cy="287771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408471" y="2489201"/>
            <a:ext cx="232675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Text Placeholder 3"/>
          <p:cNvSpPr>
            <a:spLocks noGrp="1"/>
          </p:cNvSpPr>
          <p:nvPr>
            <p:ph type="body" sz="half" idx="16"/>
          </p:nvPr>
        </p:nvSpPr>
        <p:spPr>
          <a:xfrm>
            <a:off x="3408472" y="3147164"/>
            <a:ext cx="2326750"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5963820" y="2489200"/>
            <a:ext cx="2313740" cy="657961"/>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4" name="Text Placeholder 3"/>
          <p:cNvSpPr>
            <a:spLocks noGrp="1"/>
          </p:cNvSpPr>
          <p:nvPr>
            <p:ph type="body" sz="half" idx="17"/>
          </p:nvPr>
        </p:nvSpPr>
        <p:spPr>
          <a:xfrm>
            <a:off x="5963820" y="3147162"/>
            <a:ext cx="2313739" cy="2888368"/>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398467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36973"/>
            <a:ext cx="6423592" cy="699992"/>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39" y="4188546"/>
            <a:ext cx="2314064" cy="649011"/>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1021261" y="2489200"/>
            <a:ext cx="2012937"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8" y="4837558"/>
            <a:ext cx="2309280" cy="1187322"/>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404317" y="4188546"/>
            <a:ext cx="2330903"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16"/>
          </p:nvPr>
        </p:nvSpPr>
        <p:spPr>
          <a:xfrm>
            <a:off x="3550622" y="2489200"/>
            <a:ext cx="2025182"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04317" y="4846509"/>
            <a:ext cx="2330904" cy="1178372"/>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5963820" y="4184814"/>
            <a:ext cx="2299492"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17"/>
          </p:nvPr>
        </p:nvSpPr>
        <p:spPr>
          <a:xfrm>
            <a:off x="6104945" y="2489200"/>
            <a:ext cx="2018839"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63820" y="4846510"/>
            <a:ext cx="2299492" cy="1189020"/>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21" name="Straight Connector 20"/>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1538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866441" y="2489200"/>
            <a:ext cx="6343201" cy="35306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lvl1pPr>
              <a:defRPr sz="900"/>
            </a:lvl1p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29719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0" name="Group 9"/>
          <p:cNvGrpSpPr/>
          <p:nvPr/>
        </p:nvGrpSpPr>
        <p:grpSpPr>
          <a:xfrm>
            <a:off x="0" y="-2308"/>
            <a:ext cx="9144000" cy="6860308"/>
            <a:chOff x="0" y="-2308"/>
            <a:chExt cx="9144000" cy="6860308"/>
          </a:xfrm>
        </p:grpSpPr>
        <p:sp>
          <p:nvSpPr>
            <p:cNvPr id="11" name="Rectangle 10"/>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Rectangle 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7"/>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Vertical Title 1"/>
          <p:cNvSpPr>
            <a:spLocks noGrp="1"/>
          </p:cNvSpPr>
          <p:nvPr>
            <p:ph type="title" orient="vert"/>
          </p:nvPr>
        </p:nvSpPr>
        <p:spPr>
          <a:xfrm>
            <a:off x="6168970" y="1447799"/>
            <a:ext cx="1119474" cy="457199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48235" y="1447799"/>
            <a:ext cx="4435439" cy="4571999"/>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3484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2308"/>
            <a:ext cx="9144000" cy="6860308"/>
            <a:chOff x="0" y="-2308"/>
            <a:chExt cx="9144000" cy="6860308"/>
          </a:xfrm>
        </p:grpSpPr>
        <p:sp>
          <p:nvSpPr>
            <p:cNvPr id="15" name="Rectangle 14"/>
            <p:cNvSpPr/>
            <p:nvPr/>
          </p:nvSpPr>
          <p:spPr>
            <a:xfrm>
              <a:off x="0" y="0"/>
              <a:ext cx="9144000" cy="6858000"/>
            </a:xfrm>
            <a:prstGeom prst="rect">
              <a:avLst/>
            </a:prstGeom>
            <a:blipFill>
              <a:blip r:embed="rId19">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13"/>
            <p:cNvSpPr/>
            <p:nvPr/>
          </p:nvSpPr>
          <p:spPr bwMode="gray">
            <a:xfrm>
              <a:off x="485023" y="1854142"/>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6"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Placeholder 1"/>
          <p:cNvSpPr>
            <a:spLocks noGrp="1"/>
          </p:cNvSpPr>
          <p:nvPr>
            <p:ph type="title"/>
          </p:nvPr>
        </p:nvSpPr>
        <p:spPr bwMode="gray">
          <a:xfrm>
            <a:off x="863564" y="925605"/>
            <a:ext cx="6346078" cy="711359"/>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6441" y="2489200"/>
            <a:ext cx="6343201" cy="35306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590842" y="6365497"/>
            <a:ext cx="3859795" cy="228660"/>
          </a:xfrm>
          <a:prstGeom prst="rect">
            <a:avLst/>
          </a:prstGeom>
        </p:spPr>
        <p:txBody>
          <a:bodyPr vert="horz" lIns="91440" tIns="45720" rIns="91440" bIns="45720" rtlCol="0" anchor="b"/>
          <a:lstStyle>
            <a:lvl1pPr algn="l">
              <a:defRPr sz="1000" b="1" i="0">
                <a:solidFill>
                  <a:schemeClr val="accent1"/>
                </a:solidFill>
              </a:defRPr>
            </a:lvl1pPr>
          </a:lstStyle>
          <a:p>
            <a:endParaRPr lang="en-US"/>
          </a:p>
        </p:txBody>
      </p:sp>
      <p:sp>
        <p:nvSpPr>
          <p:cNvPr id="4" name="Date Placeholder 3"/>
          <p:cNvSpPr>
            <a:spLocks noGrp="1"/>
          </p:cNvSpPr>
          <p:nvPr>
            <p:ph type="dt" sz="half" idx="2"/>
          </p:nvPr>
        </p:nvSpPr>
        <p:spPr>
          <a:xfrm>
            <a:off x="7574443" y="6371444"/>
            <a:ext cx="990599" cy="228659"/>
          </a:xfrm>
          <a:prstGeom prst="rect">
            <a:avLst/>
          </a:prstGeom>
        </p:spPr>
        <p:txBody>
          <a:bodyPr vert="horz" lIns="91440" tIns="45720" rIns="91440" bIns="45720" rtlCol="0" anchor="b"/>
          <a:lstStyle>
            <a:lvl1pPr algn="r">
              <a:defRPr sz="900" b="1" i="0">
                <a:solidFill>
                  <a:schemeClr val="accent1"/>
                </a:solidFill>
              </a:defRPr>
            </a:lvl1pPr>
          </a:lstStyle>
          <a:p>
            <a:fld id="{1D8BD707-D9CF-40AE-B4C6-C98DA3205C09}" type="datetimeFigureOut">
              <a:rPr lang="en-US" smtClean="0"/>
              <a:pPr/>
              <a:t>10/23/2026</a:t>
            </a:fld>
            <a:endParaRPr lang="en-US"/>
          </a:p>
        </p:txBody>
      </p:sp>
      <p:sp>
        <p:nvSpPr>
          <p:cNvPr id="17" name="Rectangle 1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7766428" y="295730"/>
            <a:ext cx="628813" cy="767687"/>
          </a:xfrm>
          <a:prstGeom prst="rect">
            <a:avLst/>
          </a:prstGeom>
        </p:spPr>
        <p:txBody>
          <a:bodyPr vert="horz" lIns="91440" tIns="45720" rIns="91440" bIns="45720" rtlCol="0" anchor="b"/>
          <a:lstStyle>
            <a:lvl1pPr algn="ctr">
              <a:defRPr sz="2800" b="0" i="0">
                <a:solidFill>
                  <a:schemeClr val="bg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47127635"/>
      </p:ext>
    </p:extLst>
  </p:cSld>
  <p:clrMap bg1="lt1" tx1="dk1" bg2="lt2" tx2="dk2" accent1="accent1" accent2="accent2" accent3="accent3" accent4="accent4" accent5="accent5" accent6="accent6" hlink="hlink" folHlink="folHlink"/>
  <p:sldLayoutIdLst>
    <p:sldLayoutId id="2147483983" r:id="rId1"/>
    <p:sldLayoutId id="2147483984" r:id="rId2"/>
    <p:sldLayoutId id="2147483985" r:id="rId3"/>
    <p:sldLayoutId id="2147483986" r:id="rId4"/>
    <p:sldLayoutId id="2147483987" r:id="rId5"/>
    <p:sldLayoutId id="2147483988" r:id="rId6"/>
    <p:sldLayoutId id="2147483989" r:id="rId7"/>
    <p:sldLayoutId id="2147483990" r:id="rId8"/>
    <p:sldLayoutId id="2147483991" r:id="rId9"/>
    <p:sldLayoutId id="2147483992" r:id="rId10"/>
    <p:sldLayoutId id="2147483993" r:id="rId11"/>
    <p:sldLayoutId id="2147483994" r:id="rId12"/>
    <p:sldLayoutId id="2147483995" r:id="rId13"/>
    <p:sldLayoutId id="2147483996" r:id="rId14"/>
    <p:sldLayoutId id="2147483997" r:id="rId15"/>
    <p:sldLayoutId id="2147483998" r:id="rId16"/>
    <p:sldLayoutId id="2147483999" r:id="rId17"/>
  </p:sldLayoutIdLst>
  <p:txStyles>
    <p:titleStyle>
      <a:lvl1pPr algn="l" defTabSz="457200" rtl="0" eaLnBrk="1" latinLnBrk="0" hangingPunct="1">
        <a:spcBef>
          <a:spcPct val="0"/>
        </a:spcBef>
        <a:buNone/>
        <a:defRPr sz="32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p:cNvSpPr/>
          <p:nvPr/>
        </p:nvSpPr>
        <p:spPr>
          <a:xfrm>
            <a:off x="4191000" y="555144"/>
            <a:ext cx="4572000" cy="1477328"/>
          </a:xfrm>
          <a:prstGeom prst="rect">
            <a:avLst/>
          </a:prstGeom>
        </p:spPr>
        <p:txBody>
          <a:bodyPr>
            <a:spAutoFit/>
          </a:bodyPr>
          <a:lstStyle/>
          <a:p>
            <a:pPr lvl="0" algn="ctr"/>
            <a:r>
              <a:rPr lang="ar-SY" dirty="0">
                <a:ln w="0"/>
                <a:solidFill>
                  <a:prstClr val="black"/>
                </a:solidFill>
                <a:effectLst>
                  <a:outerShdw blurRad="38100" dist="19050" dir="2700000" algn="tl" rotWithShape="0">
                    <a:prstClr val="black">
                      <a:alpha val="40000"/>
                    </a:prstClr>
                  </a:outerShdw>
                </a:effectLst>
                <a:latin typeface="Calibri"/>
              </a:rPr>
              <a:t>الجمهورية العربية السورية</a:t>
            </a:r>
          </a:p>
          <a:p>
            <a:pPr lvl="0" algn="ctr"/>
            <a:r>
              <a:rPr lang="ar-SY" dirty="0">
                <a:ln w="0"/>
                <a:solidFill>
                  <a:prstClr val="black"/>
                </a:solidFill>
                <a:effectLst>
                  <a:outerShdw blurRad="38100" dist="19050" dir="2700000" algn="tl" rotWithShape="0">
                    <a:prstClr val="black">
                      <a:alpha val="40000"/>
                    </a:prstClr>
                  </a:outerShdw>
                </a:effectLst>
                <a:latin typeface="Calibri"/>
              </a:rPr>
              <a:t>جامعة طرطوس</a:t>
            </a:r>
          </a:p>
          <a:p>
            <a:pPr lvl="0" algn="ctr"/>
            <a:r>
              <a:rPr lang="ar-SY" dirty="0">
                <a:ln w="0"/>
                <a:solidFill>
                  <a:prstClr val="black"/>
                </a:solidFill>
                <a:effectLst>
                  <a:outerShdw blurRad="38100" dist="19050" dir="2700000" algn="tl" rotWithShape="0">
                    <a:prstClr val="black">
                      <a:alpha val="40000"/>
                    </a:prstClr>
                  </a:outerShdw>
                </a:effectLst>
                <a:latin typeface="Calibri"/>
              </a:rPr>
              <a:t>كلية هندسة تكنولوجيا المعلومات</a:t>
            </a:r>
          </a:p>
          <a:p>
            <a:pPr lvl="0" algn="ctr"/>
            <a:r>
              <a:rPr lang="ar-SY" dirty="0">
                <a:ln w="0"/>
                <a:solidFill>
                  <a:prstClr val="black"/>
                </a:solidFill>
                <a:effectLst>
                  <a:outerShdw blurRad="38100" dist="19050" dir="2700000" algn="tl" rotWithShape="0">
                    <a:prstClr val="black">
                      <a:alpha val="40000"/>
                    </a:prstClr>
                  </a:outerShdw>
                </a:effectLst>
                <a:latin typeface="Calibri"/>
              </a:rPr>
              <a:t>والاتصالات</a:t>
            </a:r>
          </a:p>
          <a:p>
            <a:pPr lvl="0" algn="ctr"/>
            <a:r>
              <a:rPr lang="ar-SY" dirty="0">
                <a:ln w="0"/>
                <a:solidFill>
                  <a:prstClr val="black"/>
                </a:solidFill>
                <a:effectLst>
                  <a:outerShdw blurRad="38100" dist="19050" dir="2700000" algn="tl" rotWithShape="0">
                    <a:prstClr val="black">
                      <a:alpha val="40000"/>
                    </a:prstClr>
                  </a:outerShdw>
                </a:effectLst>
                <a:latin typeface="Calibri"/>
              </a:rPr>
              <a:t>قسم هندسه تكنولوجيا المعلومات  السنه </a:t>
            </a:r>
            <a:r>
              <a:rPr lang="ar-SY" dirty="0" err="1">
                <a:ln w="0"/>
                <a:solidFill>
                  <a:prstClr val="black"/>
                </a:solidFill>
                <a:effectLst>
                  <a:outerShdw blurRad="38100" dist="19050" dir="2700000" algn="tl" rotWithShape="0">
                    <a:prstClr val="black">
                      <a:alpha val="40000"/>
                    </a:prstClr>
                  </a:outerShdw>
                </a:effectLst>
                <a:latin typeface="Calibri"/>
              </a:rPr>
              <a:t>الرابعه</a:t>
            </a:r>
            <a:endParaRPr lang="en-US" dirty="0">
              <a:ln w="0"/>
              <a:solidFill>
                <a:prstClr val="black"/>
              </a:solidFill>
              <a:effectLst>
                <a:outerShdw blurRad="38100" dist="19050" dir="2700000" algn="tl" rotWithShape="0">
                  <a:prstClr val="black">
                    <a:alpha val="40000"/>
                  </a:prstClr>
                </a:outerShdw>
              </a:effectLst>
              <a:latin typeface="Calibri"/>
            </a:endParaRPr>
          </a:p>
        </p:txBody>
      </p:sp>
      <p:pic>
        <p:nvPicPr>
          <p:cNvPr id="35" name="صورة 3"/>
          <p:cNvPicPr/>
          <p:nvPr/>
        </p:nvPicPr>
        <p:blipFill>
          <a:blip r:embed="rId2">
            <a:extLst>
              <a:ext uri="{28A0092B-C50C-407E-A947-70E740481C1C}">
                <a14:useLocalDpi xmlns:a14="http://schemas.microsoft.com/office/drawing/2010/main" val="0"/>
              </a:ext>
            </a:extLst>
          </a:blip>
          <a:srcRect/>
          <a:stretch>
            <a:fillRect/>
          </a:stretch>
        </p:blipFill>
        <p:spPr bwMode="auto">
          <a:xfrm>
            <a:off x="0" y="6096"/>
            <a:ext cx="1981200" cy="1855470"/>
          </a:xfrm>
          <a:prstGeom prst="rect">
            <a:avLst/>
          </a:prstGeom>
          <a:noFill/>
        </p:spPr>
      </p:pic>
      <p:sp>
        <p:nvSpPr>
          <p:cNvPr id="37" name="Rectangle 36"/>
          <p:cNvSpPr/>
          <p:nvPr/>
        </p:nvSpPr>
        <p:spPr>
          <a:xfrm>
            <a:off x="426474" y="2971800"/>
            <a:ext cx="8343900" cy="2948499"/>
          </a:xfrm>
          <a:prstGeom prst="rect">
            <a:avLst/>
          </a:prstGeom>
        </p:spPr>
        <p:txBody>
          <a:bodyPr wrap="square">
            <a:spAutoFit/>
          </a:bodyPr>
          <a:lstStyle/>
          <a:p>
            <a:pPr lvl="0" algn="ctr">
              <a:spcBef>
                <a:spcPct val="20000"/>
              </a:spcBef>
            </a:pPr>
            <a:r>
              <a:rPr lang="ar-SY" sz="3200" b="1" u="sng" dirty="0">
                <a:solidFill>
                  <a:prstClr val="black"/>
                </a:solidFill>
                <a:latin typeface="Arial Unicode MS" pitchFamily="34" charset="-128"/>
                <a:ea typeface="Arial Unicode MS" pitchFamily="34" charset="-128"/>
                <a:cs typeface="Arial Unicode MS" pitchFamily="34" charset="-128"/>
              </a:rPr>
              <a:t>إعداد الطالب:</a:t>
            </a:r>
          </a:p>
          <a:p>
            <a:pPr lvl="0" algn="r">
              <a:spcBef>
                <a:spcPct val="20000"/>
              </a:spcBef>
            </a:pPr>
            <a:r>
              <a:rPr lang="ar-SY" sz="3200">
                <a:solidFill>
                  <a:prstClr val="black"/>
                </a:solidFill>
                <a:latin typeface="Calibri"/>
              </a:rPr>
              <a:t>                            خضر جابر احمد</a:t>
            </a:r>
            <a:endParaRPr lang="ar-SY" sz="3200" dirty="0">
              <a:solidFill>
                <a:prstClr val="black"/>
              </a:solidFill>
              <a:latin typeface="Calibri"/>
            </a:endParaRPr>
          </a:p>
          <a:p>
            <a:pPr lvl="0" algn="r" rtl="1">
              <a:spcBef>
                <a:spcPct val="20000"/>
              </a:spcBef>
            </a:pPr>
            <a:r>
              <a:rPr lang="ar-SY" sz="3200" dirty="0">
                <a:solidFill>
                  <a:prstClr val="black"/>
                </a:solidFill>
                <a:latin typeface="Aldhabi" panose="01000000000000000000" pitchFamily="2" charset="-78"/>
              </a:rPr>
              <a:t>                               إشراف :</a:t>
            </a:r>
            <a:endParaRPr lang="en-US" sz="3200" dirty="0">
              <a:solidFill>
                <a:prstClr val="black"/>
              </a:solidFill>
              <a:latin typeface="Aldhabi" panose="01000000000000000000" pitchFamily="2" charset="-78"/>
            </a:endParaRPr>
          </a:p>
          <a:p>
            <a:pPr lvl="0" algn="ctr">
              <a:spcBef>
                <a:spcPct val="20000"/>
              </a:spcBef>
            </a:pPr>
            <a:r>
              <a:rPr lang="ar-SY" sz="3200" dirty="0">
                <a:solidFill>
                  <a:prstClr val="black"/>
                </a:solidFill>
                <a:latin typeface="Aldhabi" panose="01000000000000000000" pitchFamily="2" charset="-78"/>
              </a:rPr>
              <a:t>  د.م فاطمة قداد</a:t>
            </a:r>
          </a:p>
          <a:p>
            <a:pPr lvl="0" algn="ctr">
              <a:spcBef>
                <a:spcPct val="20000"/>
              </a:spcBef>
            </a:pPr>
            <a:r>
              <a:rPr lang="ar-SY" sz="3200" dirty="0">
                <a:solidFill>
                  <a:prstClr val="black"/>
                </a:solidFill>
                <a:latin typeface="Aldhabi" panose="01000000000000000000" pitchFamily="2" charset="-78"/>
              </a:rPr>
              <a:t>م.علي صافي</a:t>
            </a:r>
          </a:p>
        </p:txBody>
      </p:sp>
    </p:spTree>
    <p:extLst>
      <p:ext uri="{BB962C8B-B14F-4D97-AF65-F5344CB8AC3E}">
        <p14:creationId xmlns:p14="http://schemas.microsoft.com/office/powerpoint/2010/main" val="3999843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62000" y="914400"/>
            <a:ext cx="8229600" cy="4800600"/>
          </a:xfrm>
        </p:spPr>
        <p:txBody>
          <a:bodyPr>
            <a:normAutofit/>
          </a:bodyPr>
          <a:lstStyle/>
          <a:p>
            <a:pPr algn="r"/>
            <a:br>
              <a:rPr lang="ar-SY" sz="2800" dirty="0">
                <a:solidFill>
                  <a:schemeClr val="tx1"/>
                </a:solidFill>
              </a:rPr>
            </a:br>
            <a:br>
              <a:rPr lang="ar-SY" sz="2800" dirty="0">
                <a:solidFill>
                  <a:schemeClr val="tx1"/>
                </a:solidFill>
              </a:rPr>
            </a:br>
            <a:r>
              <a:rPr lang="ar-SY" sz="2400" dirty="0">
                <a:solidFill>
                  <a:schemeClr val="tx1"/>
                </a:solidFill>
              </a:rPr>
              <a:t>تشكل الأمراض المزمنة مثل الأمراض القلبية، والسكري و مرض باركنسون، وسرطان الثدي تحديًا صحيًا كبيرًا يؤثر على ملايين الأشخاص حول العالم تتطلب هذه الأمراض جهودًا مستمرة لفهمها وعلاجها بفعالية، مما يبرز أهمية التطورات التكنولوجية في تقديم حلول جديدة. مع تقدم التكنولوجيا، أصبحت هناك إمكانيات جديدة ورائدة لمواجهة هذه التحديات، حيث يتيح الذكاء الاصطناعي وتعلم الآلة تحسين دقة التشخيص، وتوفير أدوات تحليل متقدمة، والتنبؤ بمخاطر الإصابة مبكرًا. من خلال دمج هذه التقنيات، يمكننا تعزيز فعالية الرعاية الصحية،</a:t>
            </a:r>
            <a:br>
              <a:rPr lang="en-US" sz="2800" dirty="0">
                <a:solidFill>
                  <a:schemeClr val="tx1"/>
                </a:solidFill>
                <a:latin typeface="Arial" pitchFamily="34" charset="0"/>
                <a:cs typeface="Arial" pitchFamily="34" charset="0"/>
              </a:rPr>
            </a:br>
            <a:endParaRPr lang="en-US" sz="2800" dirty="0">
              <a:solidFill>
                <a:schemeClr val="tx1"/>
              </a:solidFill>
            </a:endParaRPr>
          </a:p>
        </p:txBody>
      </p:sp>
      <p:sp>
        <p:nvSpPr>
          <p:cNvPr id="9" name="Down Ribbon 8"/>
          <p:cNvSpPr/>
          <p:nvPr/>
        </p:nvSpPr>
        <p:spPr>
          <a:xfrm>
            <a:off x="3148553" y="838200"/>
            <a:ext cx="3733800" cy="762000"/>
          </a:xfrm>
          <a:prstGeom prst="ribbon">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Y" sz="3200" b="1" dirty="0">
                <a:solidFill>
                  <a:schemeClr val="bg1"/>
                </a:solidFill>
              </a:rPr>
              <a:t>المقدمة</a:t>
            </a:r>
          </a:p>
        </p:txBody>
      </p:sp>
    </p:spTree>
    <p:extLst>
      <p:ext uri="{BB962C8B-B14F-4D97-AF65-F5344CB8AC3E}">
        <p14:creationId xmlns:p14="http://schemas.microsoft.com/office/powerpoint/2010/main" val="1050427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524000"/>
            <a:ext cx="8229600" cy="4800600"/>
          </a:xfrm>
        </p:spPr>
        <p:txBody>
          <a:bodyPr>
            <a:normAutofit/>
          </a:bodyPr>
          <a:lstStyle/>
          <a:p>
            <a:pPr algn="justLow"/>
            <a:br>
              <a:rPr lang="ar-SY" sz="2800" dirty="0">
                <a:solidFill>
                  <a:schemeClr val="bg1"/>
                </a:solidFill>
              </a:rPr>
            </a:br>
            <a:r>
              <a:rPr lang="ar-SY" sz="2400" dirty="0">
                <a:solidFill>
                  <a:schemeClr val="tx1"/>
                </a:solidFill>
              </a:rPr>
              <a:t>يهدف المشروع إلى دمج تقنيات الذكاء الاصطناعي في مجال الطب، لتطوير نماذج قادرة على التعرف على الأنماط والتنبؤ بالتطورات المرضية في حالات أمراض القلب، والسرطان، وباركنسون. من خلال تجميع وتحليل البيانات الطبية الضخمة</a:t>
            </a:r>
            <a:br>
              <a:rPr lang="ar-SY" sz="2400" dirty="0">
                <a:solidFill>
                  <a:schemeClr val="tx1"/>
                </a:solidFill>
              </a:rPr>
            </a:br>
            <a:r>
              <a:rPr lang="ar-SY" sz="2400" dirty="0">
                <a:solidFill>
                  <a:schemeClr val="tx1"/>
                </a:solidFill>
              </a:rPr>
              <a:t>و سيقدم النظام أدوات تشخيص وتوقع مبكرة. من خلال تسريع عملية التشخيص وزيادة دقتها، سيساعد المشروع في تحسين جودة الرعاية الصحية، وتقليل التكلفة الإجمالية للعلاج، وزيادة فرص النجاة للمرضى من الأمراض القلبية ومرض      باركنسون وسرطان الثدي والسكري.</a:t>
            </a:r>
            <a:br>
              <a:rPr lang="en-US" sz="2400" dirty="0">
                <a:solidFill>
                  <a:schemeClr val="tx1"/>
                </a:solidFill>
              </a:rPr>
            </a:br>
            <a:br>
              <a:rPr lang="en-US" sz="2800" dirty="0">
                <a:solidFill>
                  <a:schemeClr val="tx1"/>
                </a:solidFill>
                <a:latin typeface="Arial" pitchFamily="34" charset="0"/>
                <a:cs typeface="Arial" pitchFamily="34" charset="0"/>
              </a:rPr>
            </a:br>
            <a:endParaRPr lang="en-US" sz="2800" dirty="0">
              <a:solidFill>
                <a:schemeClr val="tx1"/>
              </a:solidFill>
            </a:endParaRPr>
          </a:p>
        </p:txBody>
      </p:sp>
      <p:sp>
        <p:nvSpPr>
          <p:cNvPr id="7" name="Horizontal Scroll 6"/>
          <p:cNvSpPr/>
          <p:nvPr/>
        </p:nvSpPr>
        <p:spPr>
          <a:xfrm>
            <a:off x="3352800" y="633684"/>
            <a:ext cx="3124200" cy="1118915"/>
          </a:xfrm>
          <a:prstGeom prst="horizontalScroll">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Y" sz="3200" b="1" dirty="0">
                <a:solidFill>
                  <a:schemeClr val="bg1"/>
                </a:solidFill>
              </a:rPr>
              <a:t>الهدف من المشروع </a:t>
            </a:r>
          </a:p>
        </p:txBody>
      </p:sp>
    </p:spTree>
    <p:extLst>
      <p:ext uri="{BB962C8B-B14F-4D97-AF65-F5344CB8AC3E}">
        <p14:creationId xmlns:p14="http://schemas.microsoft.com/office/powerpoint/2010/main" val="2669205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62000" y="914400"/>
            <a:ext cx="8229600" cy="4800600"/>
          </a:xfrm>
        </p:spPr>
        <p:txBody>
          <a:bodyPr>
            <a:normAutofit/>
          </a:bodyPr>
          <a:lstStyle/>
          <a:p>
            <a:pPr algn="justLow"/>
            <a:br>
              <a:rPr lang="ar-SY" sz="2800" dirty="0">
                <a:solidFill>
                  <a:schemeClr val="tx1"/>
                </a:solidFill>
              </a:rPr>
            </a:br>
            <a:r>
              <a:rPr lang="ar-SY" sz="2400" dirty="0">
                <a:solidFill>
                  <a:schemeClr val="tx1"/>
                </a:solidFill>
              </a:rPr>
              <a:t>الذكاء الصنعي: فرع من علوم الحاسوب يهدف إلى إنشاء أنظمة قادرة على تنفيذ مهام تتطلب عادةً ذكاء بشري. يشمل هذا التفكير المنطقي، التعلم، التفسير، والفهم.</a:t>
            </a:r>
            <a:br>
              <a:rPr lang="ar-SY" sz="2400" dirty="0">
                <a:solidFill>
                  <a:schemeClr val="tx1"/>
                </a:solidFill>
              </a:rPr>
            </a:br>
            <a:r>
              <a:rPr lang="ar-SY" sz="2800" dirty="0">
                <a:solidFill>
                  <a:schemeClr val="tx1"/>
                </a:solidFill>
              </a:rPr>
              <a:t>تعليم الآلة:</a:t>
            </a:r>
            <a:r>
              <a:rPr lang="ar-SY" sz="2400" i="1" dirty="0">
                <a:solidFill>
                  <a:schemeClr val="tx1"/>
                </a:solidFill>
              </a:rPr>
              <a:t>هو</a:t>
            </a:r>
            <a:r>
              <a:rPr lang="ar-SY" sz="2800" dirty="0">
                <a:solidFill>
                  <a:schemeClr val="tx1"/>
                </a:solidFill>
              </a:rPr>
              <a:t> </a:t>
            </a:r>
            <a:r>
              <a:rPr lang="ar-SY" sz="2400" dirty="0">
                <a:solidFill>
                  <a:schemeClr val="tx1"/>
                </a:solidFill>
              </a:rPr>
              <a:t>فرع من الذكاء الاصطناعي يركز على تطوير خوارزميات ونماذج تمكن الأنظمة من التعلم من البيانات وتحسين أدائها بمرور الوقت دون الحاجة إلى برمجة صريحة لكل مهمة.</a:t>
            </a:r>
            <a:br>
              <a:rPr lang="en-US" sz="2400" dirty="0">
                <a:solidFill>
                  <a:schemeClr val="tx1"/>
                </a:solidFill>
              </a:rPr>
            </a:br>
            <a:br>
              <a:rPr lang="en-US" sz="2800" dirty="0">
                <a:solidFill>
                  <a:schemeClr val="tx1"/>
                </a:solidFill>
                <a:latin typeface="Arial" pitchFamily="34" charset="0"/>
                <a:cs typeface="Arial" pitchFamily="34" charset="0"/>
              </a:rPr>
            </a:br>
            <a:endParaRPr lang="en-US" sz="2800" dirty="0">
              <a:solidFill>
                <a:schemeClr val="tx1"/>
              </a:solidFill>
            </a:endParaRPr>
          </a:p>
        </p:txBody>
      </p:sp>
      <p:sp>
        <p:nvSpPr>
          <p:cNvPr id="7" name="Horizontal Scroll 6"/>
          <p:cNvSpPr/>
          <p:nvPr/>
        </p:nvSpPr>
        <p:spPr>
          <a:xfrm>
            <a:off x="3352800" y="633684"/>
            <a:ext cx="3124200" cy="1118915"/>
          </a:xfrm>
          <a:prstGeom prst="horizontalScroll">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Y" sz="3200" b="1" dirty="0">
                <a:solidFill>
                  <a:schemeClr val="bg1"/>
                </a:solidFill>
              </a:rPr>
              <a:t>الذكاء الصنعي وتعليم الآلة </a:t>
            </a:r>
          </a:p>
        </p:txBody>
      </p:sp>
    </p:spTree>
    <p:extLst>
      <p:ext uri="{BB962C8B-B14F-4D97-AF65-F5344CB8AC3E}">
        <p14:creationId xmlns:p14="http://schemas.microsoft.com/office/powerpoint/2010/main" val="147278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6400" y="914400"/>
            <a:ext cx="2133600" cy="1524000"/>
          </a:xfrm>
          <a:prstGeom prst="rect">
            <a:avLst/>
          </a:prstGeom>
        </p:spPr>
      </p:pic>
      <p:sp>
        <p:nvSpPr>
          <p:cNvPr id="4" name="وسيلة شرح مع سهم إلى الأسفل 2"/>
          <p:cNvSpPr/>
          <p:nvPr/>
        </p:nvSpPr>
        <p:spPr>
          <a:xfrm>
            <a:off x="4000082" y="1151882"/>
            <a:ext cx="4584879" cy="1284799"/>
          </a:xfrm>
          <a:prstGeom prst="downArrowCallout">
            <a:avLst/>
          </a:prstGeom>
          <a:solidFill>
            <a:schemeClr val="bg2">
              <a:lumMod val="50000"/>
            </a:schemeClr>
          </a:solidFill>
          <a:ln w="12700" cap="flat" cmpd="sng" algn="ctr">
            <a:solidFill>
              <a:srgbClr val="4472C4">
                <a:shade val="50000"/>
              </a:srgbClr>
            </a:solidFill>
            <a:prstDash val="solid"/>
            <a:miter lim="800000"/>
          </a:ln>
          <a:effectLst/>
        </p:spPr>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Y" sz="3200" b="0" i="0" u="none" strike="noStrike" kern="0" cap="none" spc="0" normalizeH="0" baseline="0" noProof="0" dirty="0">
                <a:ln>
                  <a:noFill/>
                </a:ln>
                <a:effectLst/>
                <a:uLnTx/>
                <a:uFillTx/>
                <a:latin typeface="Calibri"/>
                <a:ea typeface="+mn-ea"/>
                <a:cs typeface="Arial"/>
              </a:rPr>
              <a:t>لغة البرمجة </a:t>
            </a:r>
            <a:r>
              <a:rPr kumimoji="0" lang="en-US" sz="3200" b="0" i="0" u="none" strike="noStrike" kern="0" cap="none" spc="0" normalizeH="0" baseline="0" noProof="0" dirty="0">
                <a:ln>
                  <a:noFill/>
                </a:ln>
                <a:effectLst/>
                <a:uLnTx/>
                <a:uFillTx/>
                <a:latin typeface="Calibri"/>
                <a:ea typeface="+mn-ea"/>
                <a:cs typeface="+mn-cs"/>
              </a:rPr>
              <a:t>python</a:t>
            </a:r>
          </a:p>
        </p:txBody>
      </p:sp>
      <p:sp>
        <p:nvSpPr>
          <p:cNvPr id="5" name="Rectangle 4"/>
          <p:cNvSpPr/>
          <p:nvPr/>
        </p:nvSpPr>
        <p:spPr>
          <a:xfrm>
            <a:off x="4012961" y="2452392"/>
            <a:ext cx="4572000" cy="4031873"/>
          </a:xfrm>
          <a:prstGeom prst="rect">
            <a:avLst/>
          </a:prstGeom>
        </p:spPr>
        <p:txBody>
          <a:bodyPr>
            <a:spAutoFit/>
          </a:bodyPr>
          <a:lstStyle/>
          <a:p>
            <a:pPr lvl="0" algn="justLow" rtl="1"/>
            <a:r>
              <a:rPr lang="ar-SY" sz="3200" dirty="0">
                <a:solidFill>
                  <a:prstClr val="black"/>
                </a:solidFill>
                <a:latin typeface="Calibri"/>
              </a:rPr>
              <a:t>هي لغة برمجة عالية المستوى تُستخدم في مجموعة متنوعة من التطبيقات، من تطوير الويب إلى علم البيانات والذكاء الاصطناعي. تم تصميم بايثون لتكون لغة برمجة بسيطة وقوية في نفس الوقت، مما يجعلها خياراً ممتازاً للمبتدئين والمحترفين على حد سواء.</a:t>
            </a:r>
            <a:endParaRPr lang="en-US" sz="3200" dirty="0">
              <a:solidFill>
                <a:prstClr val="black"/>
              </a:solidFill>
              <a:latin typeface="Calibri"/>
            </a:endParaRPr>
          </a:p>
        </p:txBody>
      </p:sp>
    </p:spTree>
    <p:extLst>
      <p:ext uri="{BB962C8B-B14F-4D97-AF65-F5344CB8AC3E}">
        <p14:creationId xmlns:p14="http://schemas.microsoft.com/office/powerpoint/2010/main" val="406860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مجموعة 1">
            <a:extLst>
              <a:ext uri="{FF2B5EF4-FFF2-40B4-BE49-F238E27FC236}">
                <a16:creationId xmlns:a16="http://schemas.microsoft.com/office/drawing/2014/main" id="{1459E1C2-9BEB-40A0-88B0-BC5ED107F6E6}"/>
              </a:ext>
            </a:extLst>
          </p:cNvPr>
          <p:cNvGrpSpPr/>
          <p:nvPr/>
        </p:nvGrpSpPr>
        <p:grpSpPr>
          <a:xfrm flipH="1">
            <a:off x="837275" y="1385977"/>
            <a:ext cx="7608710" cy="4471777"/>
            <a:chOff x="453154" y="411830"/>
            <a:chExt cx="8237696" cy="4324615"/>
          </a:xfrm>
          <a:solidFill>
            <a:schemeClr val="bg2">
              <a:lumMod val="50000"/>
            </a:schemeClr>
          </a:solidFill>
        </p:grpSpPr>
        <p:sp>
          <p:nvSpPr>
            <p:cNvPr id="5" name="Google Shape;1691;p21"/>
            <p:cNvSpPr/>
            <p:nvPr/>
          </p:nvSpPr>
          <p:spPr>
            <a:xfrm>
              <a:off x="453154" y="2574646"/>
              <a:ext cx="4432244" cy="76248"/>
            </a:xfrm>
            <a:custGeom>
              <a:avLst/>
              <a:gdLst/>
              <a:ahLst/>
              <a:cxnLst/>
              <a:rect l="l" t="t" r="r" b="b"/>
              <a:pathLst>
                <a:path w="138173" h="2377" extrusionOk="0">
                  <a:moveTo>
                    <a:pt x="1" y="1"/>
                  </a:moveTo>
                  <a:lnTo>
                    <a:pt x="1" y="2376"/>
                  </a:lnTo>
                  <a:lnTo>
                    <a:pt x="138173" y="2376"/>
                  </a:lnTo>
                  <a:lnTo>
                    <a:pt x="138173" y="1"/>
                  </a:ln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1692;p21"/>
            <p:cNvSpPr/>
            <p:nvPr/>
          </p:nvSpPr>
          <p:spPr>
            <a:xfrm>
              <a:off x="4800040" y="2499489"/>
              <a:ext cx="267206" cy="225537"/>
            </a:xfrm>
            <a:custGeom>
              <a:avLst/>
              <a:gdLst/>
              <a:ahLst/>
              <a:cxnLst/>
              <a:rect l="l" t="t" r="r" b="b"/>
              <a:pathLst>
                <a:path w="8330" h="7031" extrusionOk="0">
                  <a:moveTo>
                    <a:pt x="1" y="0"/>
                  </a:moveTo>
                  <a:lnTo>
                    <a:pt x="1489" y="3516"/>
                  </a:lnTo>
                  <a:lnTo>
                    <a:pt x="1" y="7031"/>
                  </a:lnTo>
                  <a:lnTo>
                    <a:pt x="8330" y="3516"/>
                  </a:lnTo>
                  <a:lnTo>
                    <a:pt x="1" y="0"/>
                  </a:ln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1693;p21"/>
            <p:cNvSpPr/>
            <p:nvPr/>
          </p:nvSpPr>
          <p:spPr>
            <a:xfrm>
              <a:off x="463322" y="891380"/>
              <a:ext cx="4422076" cy="1331826"/>
            </a:xfrm>
            <a:custGeom>
              <a:avLst/>
              <a:gdLst/>
              <a:ahLst/>
              <a:cxnLst/>
              <a:rect l="l" t="t" r="r" b="b"/>
              <a:pathLst>
                <a:path w="137856" h="41519" extrusionOk="0">
                  <a:moveTo>
                    <a:pt x="129115" y="1"/>
                  </a:moveTo>
                  <a:lnTo>
                    <a:pt x="98745" y="39143"/>
                  </a:lnTo>
                  <a:lnTo>
                    <a:pt x="0" y="39143"/>
                  </a:lnTo>
                  <a:lnTo>
                    <a:pt x="0" y="41519"/>
                  </a:lnTo>
                  <a:lnTo>
                    <a:pt x="99916" y="41519"/>
                  </a:lnTo>
                  <a:lnTo>
                    <a:pt x="130287" y="2376"/>
                  </a:lnTo>
                  <a:lnTo>
                    <a:pt x="137856" y="2376"/>
                  </a:lnTo>
                  <a:lnTo>
                    <a:pt x="137856" y="1"/>
                  </a:ln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1694;p21"/>
            <p:cNvSpPr/>
            <p:nvPr/>
          </p:nvSpPr>
          <p:spPr>
            <a:xfrm>
              <a:off x="4800040" y="816222"/>
              <a:ext cx="267206" cy="225537"/>
            </a:xfrm>
            <a:custGeom>
              <a:avLst/>
              <a:gdLst/>
              <a:ahLst/>
              <a:cxnLst/>
              <a:rect l="l" t="t" r="r" b="b"/>
              <a:pathLst>
                <a:path w="8330" h="7031" extrusionOk="0">
                  <a:moveTo>
                    <a:pt x="1" y="0"/>
                  </a:moveTo>
                  <a:lnTo>
                    <a:pt x="1489" y="3515"/>
                  </a:lnTo>
                  <a:lnTo>
                    <a:pt x="1" y="7031"/>
                  </a:lnTo>
                  <a:lnTo>
                    <a:pt x="8330" y="3515"/>
                  </a:lnTo>
                  <a:lnTo>
                    <a:pt x="1" y="0"/>
                  </a:ln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1695;p21"/>
            <p:cNvSpPr/>
            <p:nvPr/>
          </p:nvSpPr>
          <p:spPr>
            <a:xfrm>
              <a:off x="458254" y="1709163"/>
              <a:ext cx="6277054" cy="738552"/>
            </a:xfrm>
            <a:custGeom>
              <a:avLst/>
              <a:gdLst/>
              <a:ahLst/>
              <a:cxnLst/>
              <a:rect l="l" t="t" r="r" b="b"/>
              <a:pathLst>
                <a:path w="195684" h="23024" extrusionOk="0">
                  <a:moveTo>
                    <a:pt x="128608" y="0"/>
                  </a:moveTo>
                  <a:lnTo>
                    <a:pt x="112837" y="20648"/>
                  </a:lnTo>
                  <a:lnTo>
                    <a:pt x="0" y="20648"/>
                  </a:lnTo>
                  <a:lnTo>
                    <a:pt x="0" y="23023"/>
                  </a:lnTo>
                  <a:lnTo>
                    <a:pt x="114009" y="23023"/>
                  </a:lnTo>
                  <a:lnTo>
                    <a:pt x="129780" y="2375"/>
                  </a:lnTo>
                  <a:lnTo>
                    <a:pt x="195683" y="2375"/>
                  </a:lnTo>
                  <a:lnTo>
                    <a:pt x="195683" y="0"/>
                  </a:ln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696;p21"/>
            <p:cNvSpPr/>
            <p:nvPr/>
          </p:nvSpPr>
          <p:spPr>
            <a:xfrm>
              <a:off x="6649949" y="1633974"/>
              <a:ext cx="267206" cy="226563"/>
            </a:xfrm>
            <a:custGeom>
              <a:avLst/>
              <a:gdLst/>
              <a:ahLst/>
              <a:cxnLst/>
              <a:rect l="l" t="t" r="r" b="b"/>
              <a:pathLst>
                <a:path w="8330" h="7063" extrusionOk="0">
                  <a:moveTo>
                    <a:pt x="0" y="1"/>
                  </a:moveTo>
                  <a:lnTo>
                    <a:pt x="1489" y="3516"/>
                  </a:lnTo>
                  <a:lnTo>
                    <a:pt x="0" y="7063"/>
                  </a:lnTo>
                  <a:lnTo>
                    <a:pt x="0" y="7063"/>
                  </a:lnTo>
                  <a:lnTo>
                    <a:pt x="8329" y="3516"/>
                  </a:lnTo>
                  <a:lnTo>
                    <a:pt x="0" y="1"/>
                  </a:ln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1697;p21"/>
            <p:cNvSpPr/>
            <p:nvPr/>
          </p:nvSpPr>
          <p:spPr>
            <a:xfrm>
              <a:off x="463322" y="2782926"/>
              <a:ext cx="6277054" cy="738552"/>
            </a:xfrm>
            <a:custGeom>
              <a:avLst/>
              <a:gdLst/>
              <a:ahLst/>
              <a:cxnLst/>
              <a:rect l="l" t="t" r="r" b="b"/>
              <a:pathLst>
                <a:path w="195684" h="23024" extrusionOk="0">
                  <a:moveTo>
                    <a:pt x="0" y="0"/>
                  </a:moveTo>
                  <a:lnTo>
                    <a:pt x="0" y="2375"/>
                  </a:lnTo>
                  <a:lnTo>
                    <a:pt x="112837" y="2375"/>
                  </a:lnTo>
                  <a:lnTo>
                    <a:pt x="128609" y="23023"/>
                  </a:lnTo>
                  <a:lnTo>
                    <a:pt x="195684" y="23023"/>
                  </a:lnTo>
                  <a:lnTo>
                    <a:pt x="195684" y="20648"/>
                  </a:lnTo>
                  <a:lnTo>
                    <a:pt x="129780" y="20648"/>
                  </a:lnTo>
                  <a:lnTo>
                    <a:pt x="114041" y="0"/>
                  </a:ln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1698;p21"/>
            <p:cNvSpPr/>
            <p:nvPr/>
          </p:nvSpPr>
          <p:spPr>
            <a:xfrm>
              <a:off x="6655018" y="3370072"/>
              <a:ext cx="267206" cy="226563"/>
            </a:xfrm>
            <a:custGeom>
              <a:avLst/>
              <a:gdLst/>
              <a:ahLst/>
              <a:cxnLst/>
              <a:rect l="l" t="t" r="r" b="b"/>
              <a:pathLst>
                <a:path w="8330" h="7063" extrusionOk="0">
                  <a:moveTo>
                    <a:pt x="0" y="1"/>
                  </a:moveTo>
                  <a:lnTo>
                    <a:pt x="1489" y="3516"/>
                  </a:lnTo>
                  <a:lnTo>
                    <a:pt x="0" y="7063"/>
                  </a:lnTo>
                  <a:lnTo>
                    <a:pt x="8329" y="3516"/>
                  </a:lnTo>
                  <a:lnTo>
                    <a:pt x="0" y="1"/>
                  </a:ln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699;p21"/>
            <p:cNvSpPr/>
            <p:nvPr/>
          </p:nvSpPr>
          <p:spPr>
            <a:xfrm>
              <a:off x="463322" y="2971862"/>
              <a:ext cx="4422076" cy="1331826"/>
            </a:xfrm>
            <a:custGeom>
              <a:avLst/>
              <a:gdLst/>
              <a:ahLst/>
              <a:cxnLst/>
              <a:rect l="l" t="t" r="r" b="b"/>
              <a:pathLst>
                <a:path w="137856" h="41519" extrusionOk="0">
                  <a:moveTo>
                    <a:pt x="0" y="1"/>
                  </a:moveTo>
                  <a:lnTo>
                    <a:pt x="0" y="2376"/>
                  </a:lnTo>
                  <a:lnTo>
                    <a:pt x="98745" y="2376"/>
                  </a:lnTo>
                  <a:lnTo>
                    <a:pt x="128767" y="41075"/>
                  </a:lnTo>
                  <a:lnTo>
                    <a:pt x="129115" y="41518"/>
                  </a:lnTo>
                  <a:lnTo>
                    <a:pt x="137856" y="41518"/>
                  </a:lnTo>
                  <a:lnTo>
                    <a:pt x="137856" y="39143"/>
                  </a:lnTo>
                  <a:lnTo>
                    <a:pt x="130287" y="39143"/>
                  </a:lnTo>
                  <a:lnTo>
                    <a:pt x="100265" y="476"/>
                  </a:lnTo>
                  <a:lnTo>
                    <a:pt x="99916" y="1"/>
                  </a:ln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700;p21"/>
            <p:cNvSpPr/>
            <p:nvPr/>
          </p:nvSpPr>
          <p:spPr>
            <a:xfrm>
              <a:off x="4800040" y="4153309"/>
              <a:ext cx="267206" cy="225537"/>
            </a:xfrm>
            <a:custGeom>
              <a:avLst/>
              <a:gdLst/>
              <a:ahLst/>
              <a:cxnLst/>
              <a:rect l="l" t="t" r="r" b="b"/>
              <a:pathLst>
                <a:path w="8330" h="7031" extrusionOk="0">
                  <a:moveTo>
                    <a:pt x="1" y="0"/>
                  </a:moveTo>
                  <a:lnTo>
                    <a:pt x="1489" y="3516"/>
                  </a:lnTo>
                  <a:lnTo>
                    <a:pt x="1" y="7031"/>
                  </a:lnTo>
                  <a:lnTo>
                    <a:pt x="8330" y="3516"/>
                  </a:lnTo>
                  <a:lnTo>
                    <a:pt x="1" y="0"/>
                  </a:ln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701;p21"/>
            <p:cNvSpPr/>
            <p:nvPr/>
          </p:nvSpPr>
          <p:spPr>
            <a:xfrm>
              <a:off x="936722" y="1416585"/>
              <a:ext cx="2330430" cy="2330398"/>
            </a:xfrm>
            <a:custGeom>
              <a:avLst/>
              <a:gdLst/>
              <a:ahLst/>
              <a:cxnLst/>
              <a:rect l="l" t="t" r="r" b="b"/>
              <a:pathLst>
                <a:path w="72650" h="72649" extrusionOk="0">
                  <a:moveTo>
                    <a:pt x="36325" y="0"/>
                  </a:moveTo>
                  <a:cubicBezTo>
                    <a:pt x="16278" y="0"/>
                    <a:pt x="0" y="16247"/>
                    <a:pt x="0" y="36325"/>
                  </a:cubicBezTo>
                  <a:cubicBezTo>
                    <a:pt x="0" y="56371"/>
                    <a:pt x="16278" y="72649"/>
                    <a:pt x="36325" y="72649"/>
                  </a:cubicBezTo>
                  <a:cubicBezTo>
                    <a:pt x="56403" y="72649"/>
                    <a:pt x="72649" y="56371"/>
                    <a:pt x="72649" y="36325"/>
                  </a:cubicBezTo>
                  <a:cubicBezTo>
                    <a:pt x="72649" y="16247"/>
                    <a:pt x="56403" y="0"/>
                    <a:pt x="36325" y="0"/>
                  </a:cubicBez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b="1" dirty="0">
                  <a:latin typeface="Fira Sans Medium"/>
                  <a:ea typeface="Fira Sans Medium"/>
                  <a:cs typeface="Fira Sans Medium"/>
                  <a:sym typeface="Fira Sans Medium"/>
                </a:rPr>
                <a:t>Python</a:t>
              </a:r>
              <a:endParaRPr sz="2400" b="1" dirty="0">
                <a:latin typeface="Fira Sans Medium"/>
                <a:ea typeface="Fira Sans Medium"/>
                <a:cs typeface="Fira Sans Medium"/>
                <a:sym typeface="Fira Sans Medium"/>
              </a:endParaRPr>
            </a:p>
          </p:txBody>
        </p:sp>
        <p:sp>
          <p:nvSpPr>
            <p:cNvPr id="16" name="Google Shape;1702;p21"/>
            <p:cNvSpPr/>
            <p:nvPr/>
          </p:nvSpPr>
          <p:spPr>
            <a:xfrm>
              <a:off x="5156613" y="3765235"/>
              <a:ext cx="1673162" cy="971210"/>
            </a:xfrm>
            <a:custGeom>
              <a:avLst/>
              <a:gdLst/>
              <a:ahLst/>
              <a:cxnLst/>
              <a:rect l="l" t="t" r="r" b="b"/>
              <a:pathLst>
                <a:path w="52160" h="30277" extrusionOk="0">
                  <a:moveTo>
                    <a:pt x="4751" y="1"/>
                  </a:moveTo>
                  <a:cubicBezTo>
                    <a:pt x="2122" y="1"/>
                    <a:pt x="1" y="2154"/>
                    <a:pt x="1" y="4751"/>
                  </a:cubicBezTo>
                  <a:lnTo>
                    <a:pt x="1" y="25526"/>
                  </a:lnTo>
                  <a:cubicBezTo>
                    <a:pt x="1" y="28123"/>
                    <a:pt x="2122" y="30276"/>
                    <a:pt x="4751" y="30276"/>
                  </a:cubicBezTo>
                  <a:lnTo>
                    <a:pt x="47409" y="30276"/>
                  </a:lnTo>
                  <a:cubicBezTo>
                    <a:pt x="50006" y="30276"/>
                    <a:pt x="52159" y="28123"/>
                    <a:pt x="52159" y="25526"/>
                  </a:cubicBezTo>
                  <a:lnTo>
                    <a:pt x="52159" y="4751"/>
                  </a:lnTo>
                  <a:cubicBezTo>
                    <a:pt x="52159" y="2154"/>
                    <a:pt x="50006" y="1"/>
                    <a:pt x="47409" y="1"/>
                  </a:cubicBez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703;p21"/>
            <p:cNvSpPr/>
            <p:nvPr/>
          </p:nvSpPr>
          <p:spPr>
            <a:xfrm>
              <a:off x="5156613" y="3765235"/>
              <a:ext cx="430769" cy="971210"/>
            </a:xfrm>
            <a:custGeom>
              <a:avLst/>
              <a:gdLst/>
              <a:ahLst/>
              <a:cxnLst/>
              <a:rect l="l" t="t" r="r" b="b"/>
              <a:pathLst>
                <a:path w="13429" h="30277" extrusionOk="0">
                  <a:moveTo>
                    <a:pt x="4751" y="1"/>
                  </a:moveTo>
                  <a:cubicBezTo>
                    <a:pt x="2154" y="1"/>
                    <a:pt x="1" y="2154"/>
                    <a:pt x="1" y="4751"/>
                  </a:cubicBezTo>
                  <a:lnTo>
                    <a:pt x="1" y="25526"/>
                  </a:lnTo>
                  <a:cubicBezTo>
                    <a:pt x="1" y="28123"/>
                    <a:pt x="2154" y="30276"/>
                    <a:pt x="4751" y="30276"/>
                  </a:cubicBezTo>
                  <a:lnTo>
                    <a:pt x="13428" y="30276"/>
                  </a:lnTo>
                  <a:lnTo>
                    <a:pt x="13428" y="1"/>
                  </a:ln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latin typeface="Fira Sans SemiBold"/>
                  <a:ea typeface="Fira Sans SemiBold"/>
                  <a:cs typeface="Fira Sans SemiBold"/>
                  <a:sym typeface="Fira Sans SemiBold"/>
                </a:rPr>
                <a:t>5</a:t>
              </a:r>
              <a:endParaRPr sz="3000" dirty="0">
                <a:latin typeface="Fira Sans SemiBold"/>
                <a:ea typeface="Fira Sans SemiBold"/>
                <a:cs typeface="Fira Sans SemiBold"/>
                <a:sym typeface="Fira Sans SemiBold"/>
              </a:endParaRPr>
            </a:p>
          </p:txBody>
        </p:sp>
        <p:sp>
          <p:nvSpPr>
            <p:cNvPr id="18" name="Google Shape;1704;p21"/>
            <p:cNvSpPr/>
            <p:nvPr/>
          </p:nvSpPr>
          <p:spPr>
            <a:xfrm>
              <a:off x="5156613" y="411885"/>
              <a:ext cx="1673162" cy="971210"/>
            </a:xfrm>
            <a:custGeom>
              <a:avLst/>
              <a:gdLst/>
              <a:ahLst/>
              <a:cxnLst/>
              <a:rect l="l" t="t" r="r" b="b"/>
              <a:pathLst>
                <a:path w="52160" h="30277" extrusionOk="0">
                  <a:moveTo>
                    <a:pt x="4751" y="1"/>
                  </a:moveTo>
                  <a:cubicBezTo>
                    <a:pt x="2122" y="1"/>
                    <a:pt x="1" y="2123"/>
                    <a:pt x="1" y="4751"/>
                  </a:cubicBezTo>
                  <a:lnTo>
                    <a:pt x="1" y="25526"/>
                  </a:lnTo>
                  <a:cubicBezTo>
                    <a:pt x="1" y="28123"/>
                    <a:pt x="2122" y="30276"/>
                    <a:pt x="4751" y="30276"/>
                  </a:cubicBezTo>
                  <a:lnTo>
                    <a:pt x="47409" y="30276"/>
                  </a:lnTo>
                  <a:cubicBezTo>
                    <a:pt x="50006" y="30276"/>
                    <a:pt x="52159" y="28123"/>
                    <a:pt x="52159" y="25526"/>
                  </a:cubicBezTo>
                  <a:lnTo>
                    <a:pt x="52159" y="4751"/>
                  </a:lnTo>
                  <a:cubicBezTo>
                    <a:pt x="52159" y="2123"/>
                    <a:pt x="50006" y="1"/>
                    <a:pt x="47409" y="1"/>
                  </a:cubicBez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705;p21"/>
            <p:cNvSpPr/>
            <p:nvPr/>
          </p:nvSpPr>
          <p:spPr>
            <a:xfrm>
              <a:off x="5156613" y="411885"/>
              <a:ext cx="430769" cy="971210"/>
            </a:xfrm>
            <a:custGeom>
              <a:avLst/>
              <a:gdLst/>
              <a:ahLst/>
              <a:cxnLst/>
              <a:rect l="l" t="t" r="r" b="b"/>
              <a:pathLst>
                <a:path w="13429" h="30277" extrusionOk="0">
                  <a:moveTo>
                    <a:pt x="4751" y="1"/>
                  </a:moveTo>
                  <a:cubicBezTo>
                    <a:pt x="2154" y="1"/>
                    <a:pt x="1" y="2123"/>
                    <a:pt x="1" y="4751"/>
                  </a:cubicBezTo>
                  <a:lnTo>
                    <a:pt x="1" y="25526"/>
                  </a:lnTo>
                  <a:cubicBezTo>
                    <a:pt x="1" y="28123"/>
                    <a:pt x="2154" y="30276"/>
                    <a:pt x="4751" y="30276"/>
                  </a:cubicBezTo>
                  <a:lnTo>
                    <a:pt x="13428" y="30276"/>
                  </a:lnTo>
                  <a:lnTo>
                    <a:pt x="13428" y="1"/>
                  </a:ln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latin typeface="Fira Sans SemiBold"/>
                  <a:ea typeface="Fira Sans SemiBold"/>
                  <a:cs typeface="Fira Sans SemiBold"/>
                  <a:sym typeface="Fira Sans SemiBold"/>
                </a:rPr>
                <a:t>1</a:t>
              </a:r>
              <a:endParaRPr sz="3000" dirty="0">
                <a:latin typeface="Fira Sans SemiBold"/>
                <a:ea typeface="Fira Sans SemiBold"/>
                <a:cs typeface="Fira Sans SemiBold"/>
                <a:sym typeface="Fira Sans SemiBold"/>
              </a:endParaRPr>
            </a:p>
          </p:txBody>
        </p:sp>
        <p:sp>
          <p:nvSpPr>
            <p:cNvPr id="20" name="Google Shape;1706;p21"/>
            <p:cNvSpPr/>
            <p:nvPr/>
          </p:nvSpPr>
          <p:spPr>
            <a:xfrm>
              <a:off x="5156613" y="2089089"/>
              <a:ext cx="1673162" cy="970184"/>
            </a:xfrm>
            <a:custGeom>
              <a:avLst/>
              <a:gdLst/>
              <a:ahLst/>
              <a:cxnLst/>
              <a:rect l="l" t="t" r="r" b="b"/>
              <a:pathLst>
                <a:path w="52160" h="30245" extrusionOk="0">
                  <a:moveTo>
                    <a:pt x="4751" y="0"/>
                  </a:moveTo>
                  <a:cubicBezTo>
                    <a:pt x="2122" y="0"/>
                    <a:pt x="1" y="2122"/>
                    <a:pt x="1" y="4751"/>
                  </a:cubicBezTo>
                  <a:lnTo>
                    <a:pt x="1" y="25494"/>
                  </a:lnTo>
                  <a:cubicBezTo>
                    <a:pt x="1" y="28122"/>
                    <a:pt x="2122" y="30244"/>
                    <a:pt x="4751" y="30244"/>
                  </a:cubicBezTo>
                  <a:lnTo>
                    <a:pt x="47409" y="30244"/>
                  </a:lnTo>
                  <a:cubicBezTo>
                    <a:pt x="50006" y="30244"/>
                    <a:pt x="52159" y="28122"/>
                    <a:pt x="52159" y="25494"/>
                  </a:cubicBezTo>
                  <a:lnTo>
                    <a:pt x="52159" y="4751"/>
                  </a:lnTo>
                  <a:cubicBezTo>
                    <a:pt x="52159" y="2122"/>
                    <a:pt x="50006" y="0"/>
                    <a:pt x="47409" y="0"/>
                  </a:cubicBez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1707;p21"/>
            <p:cNvSpPr/>
            <p:nvPr/>
          </p:nvSpPr>
          <p:spPr>
            <a:xfrm>
              <a:off x="5156613" y="2089089"/>
              <a:ext cx="430769" cy="970184"/>
            </a:xfrm>
            <a:custGeom>
              <a:avLst/>
              <a:gdLst/>
              <a:ahLst/>
              <a:cxnLst/>
              <a:rect l="l" t="t" r="r" b="b"/>
              <a:pathLst>
                <a:path w="13429" h="30245" extrusionOk="0">
                  <a:moveTo>
                    <a:pt x="4751" y="0"/>
                  </a:moveTo>
                  <a:cubicBezTo>
                    <a:pt x="2154" y="0"/>
                    <a:pt x="1" y="2122"/>
                    <a:pt x="1" y="4751"/>
                  </a:cubicBezTo>
                  <a:lnTo>
                    <a:pt x="1" y="25494"/>
                  </a:lnTo>
                  <a:cubicBezTo>
                    <a:pt x="1" y="28122"/>
                    <a:pt x="2154" y="30244"/>
                    <a:pt x="4751" y="30244"/>
                  </a:cubicBezTo>
                  <a:lnTo>
                    <a:pt x="13428" y="30244"/>
                  </a:lnTo>
                  <a:lnTo>
                    <a:pt x="13428" y="0"/>
                  </a:ln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latin typeface="Fira Sans SemiBold"/>
                  <a:ea typeface="Fira Sans SemiBold"/>
                  <a:cs typeface="Fira Sans SemiBold"/>
                  <a:sym typeface="Fira Sans SemiBold"/>
                </a:rPr>
                <a:t>3</a:t>
              </a:r>
              <a:endParaRPr sz="3000" dirty="0">
                <a:latin typeface="Fira Sans SemiBold"/>
                <a:ea typeface="Fira Sans SemiBold"/>
                <a:cs typeface="Fira Sans SemiBold"/>
                <a:sym typeface="Fira Sans SemiBold"/>
              </a:endParaRPr>
            </a:p>
          </p:txBody>
        </p:sp>
        <p:sp>
          <p:nvSpPr>
            <p:cNvPr id="22" name="Google Shape;1708;p21"/>
            <p:cNvSpPr/>
            <p:nvPr/>
          </p:nvSpPr>
          <p:spPr>
            <a:xfrm>
              <a:off x="7018680" y="1249974"/>
              <a:ext cx="1672168" cy="971210"/>
            </a:xfrm>
            <a:custGeom>
              <a:avLst/>
              <a:gdLst/>
              <a:ahLst/>
              <a:cxnLst/>
              <a:rect l="l" t="t" r="r" b="b"/>
              <a:pathLst>
                <a:path w="52129" h="30277" extrusionOk="0">
                  <a:moveTo>
                    <a:pt x="4751" y="1"/>
                  </a:moveTo>
                  <a:cubicBezTo>
                    <a:pt x="2123" y="1"/>
                    <a:pt x="1" y="2154"/>
                    <a:pt x="1" y="4751"/>
                  </a:cubicBezTo>
                  <a:lnTo>
                    <a:pt x="1" y="25526"/>
                  </a:lnTo>
                  <a:cubicBezTo>
                    <a:pt x="1" y="28154"/>
                    <a:pt x="2123" y="30276"/>
                    <a:pt x="4751" y="30276"/>
                  </a:cubicBezTo>
                  <a:lnTo>
                    <a:pt x="47378" y="30276"/>
                  </a:lnTo>
                  <a:cubicBezTo>
                    <a:pt x="50006" y="30276"/>
                    <a:pt x="52128" y="28154"/>
                    <a:pt x="52128" y="25526"/>
                  </a:cubicBezTo>
                  <a:lnTo>
                    <a:pt x="52128" y="4751"/>
                  </a:lnTo>
                  <a:cubicBezTo>
                    <a:pt x="52128" y="2154"/>
                    <a:pt x="50006" y="1"/>
                    <a:pt x="47378" y="1"/>
                  </a:cubicBez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1709;p21"/>
            <p:cNvSpPr/>
            <p:nvPr/>
          </p:nvSpPr>
          <p:spPr>
            <a:xfrm>
              <a:off x="7006523" y="1251996"/>
              <a:ext cx="430769" cy="971210"/>
            </a:xfrm>
            <a:custGeom>
              <a:avLst/>
              <a:gdLst/>
              <a:ahLst/>
              <a:cxnLst/>
              <a:rect l="l" t="t" r="r" b="b"/>
              <a:pathLst>
                <a:path w="13429" h="30277" extrusionOk="0">
                  <a:moveTo>
                    <a:pt x="4751" y="1"/>
                  </a:moveTo>
                  <a:cubicBezTo>
                    <a:pt x="2123" y="1"/>
                    <a:pt x="1" y="2154"/>
                    <a:pt x="1" y="4751"/>
                  </a:cubicBezTo>
                  <a:lnTo>
                    <a:pt x="1" y="25526"/>
                  </a:lnTo>
                  <a:cubicBezTo>
                    <a:pt x="1" y="28154"/>
                    <a:pt x="2123" y="30276"/>
                    <a:pt x="4751" y="30276"/>
                  </a:cubicBezTo>
                  <a:lnTo>
                    <a:pt x="13429" y="30276"/>
                  </a:lnTo>
                  <a:lnTo>
                    <a:pt x="13429" y="1"/>
                  </a:ln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latin typeface="Fira Sans SemiBold"/>
                  <a:ea typeface="Fira Sans SemiBold"/>
                  <a:cs typeface="Fira Sans SemiBold"/>
                  <a:sym typeface="Fira Sans SemiBold"/>
                </a:rPr>
                <a:t>2</a:t>
              </a:r>
              <a:endParaRPr sz="3000" dirty="0">
                <a:latin typeface="Fira Sans SemiBold"/>
                <a:ea typeface="Fira Sans SemiBold"/>
                <a:cs typeface="Fira Sans SemiBold"/>
                <a:sym typeface="Fira Sans SemiBold"/>
              </a:endParaRPr>
            </a:p>
          </p:txBody>
        </p:sp>
        <p:sp>
          <p:nvSpPr>
            <p:cNvPr id="24" name="Google Shape;1710;p21"/>
            <p:cNvSpPr/>
            <p:nvPr/>
          </p:nvSpPr>
          <p:spPr>
            <a:xfrm>
              <a:off x="7018680" y="2927178"/>
              <a:ext cx="1672168" cy="971178"/>
            </a:xfrm>
            <a:custGeom>
              <a:avLst/>
              <a:gdLst/>
              <a:ahLst/>
              <a:cxnLst/>
              <a:rect l="l" t="t" r="r" b="b"/>
              <a:pathLst>
                <a:path w="52129" h="30276" extrusionOk="0">
                  <a:moveTo>
                    <a:pt x="4751" y="0"/>
                  </a:moveTo>
                  <a:cubicBezTo>
                    <a:pt x="2123" y="0"/>
                    <a:pt x="1" y="2122"/>
                    <a:pt x="1" y="4750"/>
                  </a:cubicBezTo>
                  <a:lnTo>
                    <a:pt x="1" y="25525"/>
                  </a:lnTo>
                  <a:cubicBezTo>
                    <a:pt x="1" y="28122"/>
                    <a:pt x="2123" y="30276"/>
                    <a:pt x="4751" y="30276"/>
                  </a:cubicBezTo>
                  <a:lnTo>
                    <a:pt x="47378" y="30276"/>
                  </a:lnTo>
                  <a:cubicBezTo>
                    <a:pt x="50006" y="30276"/>
                    <a:pt x="52128" y="28122"/>
                    <a:pt x="52128" y="25525"/>
                  </a:cubicBezTo>
                  <a:lnTo>
                    <a:pt x="52128" y="4750"/>
                  </a:lnTo>
                  <a:cubicBezTo>
                    <a:pt x="52128" y="2122"/>
                    <a:pt x="50006" y="0"/>
                    <a:pt x="47378" y="0"/>
                  </a:cubicBez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1711;p21"/>
            <p:cNvSpPr/>
            <p:nvPr/>
          </p:nvSpPr>
          <p:spPr>
            <a:xfrm>
              <a:off x="7018680" y="2927178"/>
              <a:ext cx="430769" cy="971178"/>
            </a:xfrm>
            <a:custGeom>
              <a:avLst/>
              <a:gdLst/>
              <a:ahLst/>
              <a:cxnLst/>
              <a:rect l="l" t="t" r="r" b="b"/>
              <a:pathLst>
                <a:path w="13429" h="30276" extrusionOk="0">
                  <a:moveTo>
                    <a:pt x="4751" y="0"/>
                  </a:moveTo>
                  <a:cubicBezTo>
                    <a:pt x="2123" y="0"/>
                    <a:pt x="1" y="2122"/>
                    <a:pt x="1" y="4750"/>
                  </a:cubicBezTo>
                  <a:lnTo>
                    <a:pt x="1" y="25525"/>
                  </a:lnTo>
                  <a:cubicBezTo>
                    <a:pt x="1" y="28122"/>
                    <a:pt x="2123" y="30276"/>
                    <a:pt x="4751" y="30276"/>
                  </a:cubicBezTo>
                  <a:lnTo>
                    <a:pt x="13429" y="30276"/>
                  </a:lnTo>
                  <a:lnTo>
                    <a:pt x="13429" y="0"/>
                  </a:lnTo>
                  <a:close/>
                </a:path>
              </a:pathLst>
            </a:custGeom>
            <a:grpFill/>
            <a:ln>
              <a:solidFill>
                <a:schemeClr val="tx1">
                  <a:lumMod val="65000"/>
                  <a:lumOff val="35000"/>
                </a:schemeClr>
              </a:solid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latin typeface="Fira Sans SemiBold"/>
                  <a:ea typeface="Fira Sans SemiBold"/>
                  <a:cs typeface="Fira Sans SemiBold"/>
                  <a:sym typeface="Fira Sans SemiBold"/>
                </a:rPr>
                <a:t>4</a:t>
              </a:r>
              <a:endParaRPr sz="3000" dirty="0">
                <a:latin typeface="Fira Sans SemiBold"/>
                <a:ea typeface="Fira Sans SemiBold"/>
                <a:cs typeface="Fira Sans SemiBold"/>
                <a:sym typeface="Fira Sans SemiBold"/>
              </a:endParaRPr>
            </a:p>
          </p:txBody>
        </p:sp>
        <p:sp>
          <p:nvSpPr>
            <p:cNvPr id="26" name="Google Shape;1713;p21"/>
            <p:cNvSpPr txBox="1"/>
            <p:nvPr/>
          </p:nvSpPr>
          <p:spPr>
            <a:xfrm>
              <a:off x="5587375" y="411830"/>
              <a:ext cx="1242300" cy="962145"/>
            </a:xfrm>
            <a:prstGeom prst="rect">
              <a:avLst/>
            </a:prstGeom>
            <a:grpFill/>
            <a:ln>
              <a:solidFill>
                <a:schemeClr val="tx1">
                  <a:lumMod val="65000"/>
                  <a:lumOff val="35000"/>
                </a:schemeClr>
              </a:solidFill>
            </a:ln>
          </p:spPr>
          <p:txBody>
            <a:bodyPr spcFirstLastPara="1" wrap="square" lIns="91425" tIns="91425" rIns="91425" bIns="91425" anchor="ctr" anchorCtr="0">
              <a:noAutofit/>
            </a:bodyPr>
            <a:lstStyle/>
            <a:p>
              <a:pPr lvl="0"/>
              <a:r>
                <a:rPr lang="ar-SY" b="1" dirty="0">
                  <a:latin typeface="Fira Sans Medium"/>
                </a:rPr>
                <a:t>سهولة التعلم والاستخدام</a:t>
              </a:r>
              <a:endParaRPr sz="1200" b="1" dirty="0">
                <a:latin typeface="Fira Sans Medium"/>
                <a:ea typeface="Fira Sans"/>
                <a:cs typeface="Fira Sans"/>
                <a:sym typeface="Fira Sans"/>
              </a:endParaRPr>
            </a:p>
          </p:txBody>
        </p:sp>
        <p:sp>
          <p:nvSpPr>
            <p:cNvPr id="27" name="Google Shape;1715;p21"/>
            <p:cNvSpPr txBox="1"/>
            <p:nvPr/>
          </p:nvSpPr>
          <p:spPr>
            <a:xfrm>
              <a:off x="5582375" y="2111416"/>
              <a:ext cx="1242300" cy="947857"/>
            </a:xfrm>
            <a:prstGeom prst="rect">
              <a:avLst/>
            </a:prstGeom>
            <a:grpFill/>
            <a:ln>
              <a:solidFill>
                <a:schemeClr val="tx1">
                  <a:lumMod val="65000"/>
                  <a:lumOff val="35000"/>
                </a:schemeClr>
              </a:solidFill>
            </a:ln>
          </p:spPr>
          <p:txBody>
            <a:bodyPr spcFirstLastPara="1" wrap="square" lIns="91425" tIns="91425" rIns="91425" bIns="91425" anchor="ctr" anchorCtr="0">
              <a:noAutofit/>
            </a:bodyPr>
            <a:lstStyle/>
            <a:p>
              <a:pPr lvl="0"/>
              <a:r>
                <a:rPr lang="ar-SY" b="1" dirty="0"/>
                <a:t>قوة ومرونة</a:t>
              </a:r>
              <a:endParaRPr sz="1200" b="1" dirty="0">
                <a:latin typeface="Fira Sans"/>
                <a:ea typeface="Fira Sans"/>
                <a:cs typeface="Fira Sans"/>
                <a:sym typeface="Fira Sans"/>
              </a:endParaRPr>
            </a:p>
          </p:txBody>
        </p:sp>
        <p:sp>
          <p:nvSpPr>
            <p:cNvPr id="28" name="Google Shape;1717;p21"/>
            <p:cNvSpPr txBox="1"/>
            <p:nvPr/>
          </p:nvSpPr>
          <p:spPr>
            <a:xfrm>
              <a:off x="5582375" y="3765235"/>
              <a:ext cx="1242300" cy="966380"/>
            </a:xfrm>
            <a:prstGeom prst="rect">
              <a:avLst/>
            </a:prstGeom>
            <a:grpFill/>
            <a:ln>
              <a:solidFill>
                <a:schemeClr val="tx1">
                  <a:lumMod val="65000"/>
                  <a:lumOff val="35000"/>
                </a:schemeClr>
              </a:solidFill>
            </a:ln>
          </p:spPr>
          <p:txBody>
            <a:bodyPr spcFirstLastPara="1" wrap="square" lIns="91425" tIns="91425" rIns="91425" bIns="91425" anchor="ctr" anchorCtr="0">
              <a:noAutofit/>
            </a:bodyPr>
            <a:lstStyle/>
            <a:p>
              <a:pPr lvl="0"/>
              <a:r>
                <a:rPr lang="ar-SY" b="1" dirty="0"/>
                <a:t>استخدامها في مجالات متنوعة</a:t>
              </a:r>
              <a:endParaRPr sz="1200" b="1" dirty="0">
                <a:latin typeface="Fira Sans"/>
                <a:ea typeface="Fira Sans"/>
                <a:cs typeface="Fira Sans"/>
                <a:sym typeface="Fira Sans"/>
              </a:endParaRPr>
            </a:p>
          </p:txBody>
        </p:sp>
        <p:sp>
          <p:nvSpPr>
            <p:cNvPr id="29" name="Google Shape;1719;p21"/>
            <p:cNvSpPr txBox="1"/>
            <p:nvPr/>
          </p:nvSpPr>
          <p:spPr>
            <a:xfrm>
              <a:off x="7448550" y="2971862"/>
              <a:ext cx="1242300" cy="921954"/>
            </a:xfrm>
            <a:prstGeom prst="rect">
              <a:avLst/>
            </a:prstGeom>
            <a:grpFill/>
            <a:ln>
              <a:solidFill>
                <a:schemeClr val="tx1">
                  <a:lumMod val="65000"/>
                  <a:lumOff val="35000"/>
                </a:schemeClr>
              </a:solidFill>
            </a:ln>
          </p:spPr>
          <p:txBody>
            <a:bodyPr spcFirstLastPara="1" wrap="square" lIns="91425" tIns="91425" rIns="91425" bIns="91425" anchor="ctr" anchorCtr="0">
              <a:noAutofit/>
            </a:bodyPr>
            <a:lstStyle/>
            <a:p>
              <a:pPr lvl="0"/>
              <a:r>
                <a:rPr lang="ar-SY" b="1" dirty="0"/>
                <a:t>التكامل والتوافق</a:t>
              </a:r>
              <a:endParaRPr sz="1200" b="1" dirty="0">
                <a:latin typeface="Fira Sans"/>
                <a:ea typeface="Fira Sans"/>
                <a:cs typeface="Fira Sans"/>
                <a:sym typeface="Fira Sans"/>
              </a:endParaRPr>
            </a:p>
          </p:txBody>
        </p:sp>
        <p:sp>
          <p:nvSpPr>
            <p:cNvPr id="30" name="Google Shape;1721;p21"/>
            <p:cNvSpPr txBox="1"/>
            <p:nvPr/>
          </p:nvSpPr>
          <p:spPr>
            <a:xfrm>
              <a:off x="7448550" y="1249684"/>
              <a:ext cx="1242300" cy="966932"/>
            </a:xfrm>
            <a:prstGeom prst="rect">
              <a:avLst/>
            </a:prstGeom>
            <a:grpFill/>
            <a:ln>
              <a:solidFill>
                <a:schemeClr val="tx1">
                  <a:lumMod val="65000"/>
                  <a:lumOff val="35000"/>
                </a:schemeClr>
              </a:solidFill>
            </a:ln>
          </p:spPr>
          <p:txBody>
            <a:bodyPr spcFirstLastPara="1" wrap="square" lIns="91425" tIns="91425" rIns="91425" bIns="91425" anchor="ctr" anchorCtr="0">
              <a:noAutofit/>
            </a:bodyPr>
            <a:lstStyle/>
            <a:p>
              <a:pPr lvl="0"/>
              <a:r>
                <a:rPr lang="ar-SY" b="1" dirty="0"/>
                <a:t>قابلية التوسع والتخصيص</a:t>
              </a:r>
              <a:endParaRPr sz="1200" b="1" dirty="0">
                <a:latin typeface="Fira Sans"/>
                <a:ea typeface="Fira Sans"/>
                <a:cs typeface="Fira Sans"/>
                <a:sym typeface="Fira Sans"/>
              </a:endParaRPr>
            </a:p>
          </p:txBody>
        </p:sp>
      </p:grpSp>
    </p:spTree>
    <p:extLst>
      <p:ext uri="{BB962C8B-B14F-4D97-AF65-F5344CB8AC3E}">
        <p14:creationId xmlns:p14="http://schemas.microsoft.com/office/powerpoint/2010/main" val="3153538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MD\Desktop\downloa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946" y="2050330"/>
            <a:ext cx="2949804" cy="154305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MD\Desktop\image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57200"/>
            <a:ext cx="2800350" cy="14192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MD\Desktop\download (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946" y="3593380"/>
            <a:ext cx="2914650" cy="157162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486400" y="1777394"/>
            <a:ext cx="2819400" cy="1716955"/>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ar-SY" sz="2400" dirty="0">
                <a:solidFill>
                  <a:schemeClr val="tx1"/>
                </a:solidFill>
              </a:rPr>
              <a:t>المكتبات</a:t>
            </a:r>
            <a:r>
              <a:rPr lang="ar-SY" sz="2400" dirty="0">
                <a:solidFill>
                  <a:schemeClr val="bg2">
                    <a:lumMod val="50000"/>
                  </a:schemeClr>
                </a:solidFill>
              </a:rPr>
              <a:t> </a:t>
            </a:r>
            <a:r>
              <a:rPr lang="ar-SY" sz="2400" dirty="0">
                <a:solidFill>
                  <a:schemeClr val="tx1"/>
                </a:solidFill>
              </a:rPr>
              <a:t>المستخدمة:</a:t>
            </a:r>
          </a:p>
          <a:p>
            <a:pPr algn="r"/>
            <a:r>
              <a:rPr lang="en-US" sz="2400" dirty="0">
                <a:solidFill>
                  <a:schemeClr val="tx1"/>
                </a:solidFill>
              </a:rPr>
              <a:t>Pandas</a:t>
            </a:r>
          </a:p>
          <a:p>
            <a:pPr algn="r"/>
            <a:r>
              <a:rPr lang="en-US" sz="2400" dirty="0" err="1">
                <a:solidFill>
                  <a:schemeClr val="tx1"/>
                </a:solidFill>
              </a:rPr>
              <a:t>Sci_kit</a:t>
            </a:r>
            <a:r>
              <a:rPr lang="en-US" sz="2400" dirty="0">
                <a:solidFill>
                  <a:schemeClr val="tx1"/>
                </a:solidFill>
              </a:rPr>
              <a:t> learn</a:t>
            </a:r>
          </a:p>
          <a:p>
            <a:pPr algn="r"/>
            <a:r>
              <a:rPr lang="en-US" sz="2400" dirty="0" err="1">
                <a:solidFill>
                  <a:schemeClr val="tx1"/>
                </a:solidFill>
              </a:rPr>
              <a:t>streamlit</a:t>
            </a:r>
            <a:endParaRPr lang="ar-SY" sz="2400" dirty="0">
              <a:solidFill>
                <a:schemeClr val="tx1"/>
              </a:solidFill>
            </a:endParaRPr>
          </a:p>
          <a:p>
            <a:pPr algn="ctr"/>
            <a:endParaRPr lang="en-US" dirty="0">
              <a:solidFill>
                <a:schemeClr val="bg2">
                  <a:lumMod val="50000"/>
                </a:schemeClr>
              </a:solidFill>
            </a:endParaRPr>
          </a:p>
        </p:txBody>
      </p:sp>
      <p:cxnSp>
        <p:nvCxnSpPr>
          <p:cNvPr id="22" name="Straight Arrow Connector 21"/>
          <p:cNvCxnSpPr>
            <a:stCxn id="5" idx="1"/>
            <a:endCxn id="1026" idx="3"/>
          </p:cNvCxnSpPr>
          <p:nvPr/>
        </p:nvCxnSpPr>
        <p:spPr>
          <a:xfrm flipH="1">
            <a:off x="3714750" y="2635872"/>
            <a:ext cx="1771650" cy="1859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5" idx="1"/>
            <a:endCxn id="1028" idx="3"/>
          </p:cNvCxnSpPr>
          <p:nvPr/>
        </p:nvCxnSpPr>
        <p:spPr>
          <a:xfrm flipH="1">
            <a:off x="3679596" y="2635872"/>
            <a:ext cx="1806804" cy="17433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5" idx="1"/>
            <a:endCxn id="1027" idx="3"/>
          </p:cNvCxnSpPr>
          <p:nvPr/>
        </p:nvCxnSpPr>
        <p:spPr>
          <a:xfrm flipH="1" flipV="1">
            <a:off x="3714750" y="1166813"/>
            <a:ext cx="1771650" cy="146905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60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ar-SY"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Pandas</a:t>
            </a:r>
            <a:endParaRPr lang="en-US" dirty="0"/>
          </a:p>
        </p:txBody>
      </p:sp>
      <p:sp>
        <p:nvSpPr>
          <p:cNvPr id="3" name="Content Placeholder 2"/>
          <p:cNvSpPr>
            <a:spLocks noGrp="1"/>
          </p:cNvSpPr>
          <p:nvPr>
            <p:ph idx="1"/>
          </p:nvPr>
        </p:nvSpPr>
        <p:spPr/>
        <p:txBody>
          <a:bodyPr>
            <a:normAutofit/>
          </a:bodyPr>
          <a:lstStyle/>
          <a:p>
            <a:pPr marL="0" indent="0" algn="just" rtl="1">
              <a:buNone/>
            </a:pPr>
            <a:r>
              <a:rPr lang="ar-SY" sz="2400" dirty="0"/>
              <a:t>هي مكتبة مفتوحة المصدر بلغة بايثون تُستخدم لإدارة وتحليل البيانات. تم تطويرها لتقديم أدوات قوية وسهلة الاستخدام للتعامل مع البيانات المهيكلة، وتعتبر واحدة من المكتبات الأساسية في علم البيانات وتحليل البيانات في بايثون.</a:t>
            </a:r>
            <a:endParaRPr lang="en-US" sz="2400" dirty="0"/>
          </a:p>
          <a:p>
            <a:pPr marL="0" indent="0" algn="r" rtl="1">
              <a:buNone/>
            </a:pPr>
            <a:endParaRPr lang="en-US" dirty="0"/>
          </a:p>
        </p:txBody>
      </p:sp>
      <p:pic>
        <p:nvPicPr>
          <p:cNvPr id="4" name="Picture 2" descr="C:\Users\MD\Desktop\downloa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57200"/>
            <a:ext cx="2949804"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1385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err="1"/>
              <a:t>streamlit</a:t>
            </a:r>
            <a:endParaRPr lang="en-US" dirty="0"/>
          </a:p>
        </p:txBody>
      </p:sp>
      <p:sp>
        <p:nvSpPr>
          <p:cNvPr id="3" name="Content Placeholder 2"/>
          <p:cNvSpPr>
            <a:spLocks noGrp="1"/>
          </p:cNvSpPr>
          <p:nvPr>
            <p:ph idx="1"/>
          </p:nvPr>
        </p:nvSpPr>
        <p:spPr/>
        <p:txBody>
          <a:bodyPr>
            <a:normAutofit/>
          </a:bodyPr>
          <a:lstStyle/>
          <a:p>
            <a:pPr marL="0" indent="0" algn="r" rtl="1">
              <a:buNone/>
            </a:pPr>
            <a:r>
              <a:rPr lang="ar-SA" sz="2400" dirty="0">
                <a:effectLst/>
                <a:latin typeface="Times New Roman" panose="02020603050405020304" pitchFamily="18" charset="0"/>
                <a:ea typeface="Times New Roman" panose="02020603050405020304" pitchFamily="18" charset="0"/>
              </a:rPr>
              <a:t>مكتبة مفتوحة المصدر بلغة بايثون تهدف إلى تبسيط عملية بناء تطبيقات الويب التفاعلية لعرض وتحليل البيانات. تم تصميمها لتلبية احتياجات العلماء والمطورين والباحثين الذين يرغبون في إنشاء واجهات تفاعلية دون الحاجة إلى كتابة كود معقد للواجهة الأمامية</a:t>
            </a:r>
            <a:r>
              <a:rPr lang="en-US" sz="2400" dirty="0">
                <a:effectLst/>
                <a:latin typeface="Arial" panose="020B0604020202020204" pitchFamily="34" charset="0"/>
                <a:ea typeface="Times New Roman" panose="02020603050405020304" pitchFamily="18" charset="0"/>
              </a:rPr>
              <a:t>.</a:t>
            </a:r>
            <a:endParaRPr lang="en-US" sz="2400" dirty="0">
              <a:effectLst/>
              <a:latin typeface="Times New Roman" panose="02020603050405020304" pitchFamily="18" charset="0"/>
              <a:ea typeface="Times New Roman" panose="02020603050405020304" pitchFamily="18" charset="0"/>
            </a:endParaRPr>
          </a:p>
          <a:p>
            <a:pPr marL="0" indent="0" algn="r" rtl="1">
              <a:buNone/>
            </a:pPr>
            <a:endParaRPr lang="en-US" dirty="0"/>
          </a:p>
        </p:txBody>
      </p:sp>
      <p:pic>
        <p:nvPicPr>
          <p:cNvPr id="5" name="Picture 3" descr="C:\Users\MD\Desktop\imag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57200"/>
            <a:ext cx="280035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5057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err="1"/>
              <a:t>Sci</a:t>
            </a:r>
            <a:r>
              <a:rPr lang="en-US" dirty="0"/>
              <a:t>-kit learn</a:t>
            </a:r>
          </a:p>
        </p:txBody>
      </p:sp>
      <p:sp>
        <p:nvSpPr>
          <p:cNvPr id="3" name="Content Placeholder 2"/>
          <p:cNvSpPr>
            <a:spLocks noGrp="1"/>
          </p:cNvSpPr>
          <p:nvPr>
            <p:ph idx="1"/>
          </p:nvPr>
        </p:nvSpPr>
        <p:spPr/>
        <p:txBody>
          <a:bodyPr>
            <a:normAutofit/>
          </a:bodyPr>
          <a:lstStyle/>
          <a:p>
            <a:pPr marL="0" indent="0" algn="justLow" rtl="1">
              <a:buNone/>
            </a:pPr>
            <a:r>
              <a:rPr lang="ar-SY" sz="2400" dirty="0"/>
              <a:t>والمعروفة أيضًا باسم</a:t>
            </a:r>
            <a:r>
              <a:rPr lang="en-US" sz="2400" dirty="0" err="1"/>
              <a:t>sklearn</a:t>
            </a:r>
            <a:r>
              <a:rPr lang="ar-SA" sz="2400" dirty="0"/>
              <a:t>،</a:t>
            </a:r>
            <a:r>
              <a:rPr lang="ar-SY" sz="2400" dirty="0"/>
              <a:t> هي مكتبة مفتوحة المصدر في بايثون تستخدم لتطبيقات التعلم الآلي وتحليل البيانات. تعتبر </a:t>
            </a:r>
            <a:r>
              <a:rPr lang="en-US" sz="2400" dirty="0" err="1"/>
              <a:t>scikit</a:t>
            </a:r>
            <a:r>
              <a:rPr lang="en-US" sz="2400" dirty="0"/>
              <a:t>-learn</a:t>
            </a:r>
            <a:r>
              <a:rPr lang="ar-SY" sz="2400" dirty="0"/>
              <a:t> واحدة من المكتبات الأكثر شيوعًا في مجال التعلم الآلي وتقدم مجموعة واسعة من الأدوات والواجهات لتطبيق تقنيات التعلم الآلي وتقييم النماذج.</a:t>
            </a:r>
            <a:endParaRPr lang="en-US" sz="2400" dirty="0"/>
          </a:p>
          <a:p>
            <a:pPr marL="0" indent="0" algn="justLow" rtl="1">
              <a:buNone/>
            </a:pPr>
            <a:endParaRPr lang="en-US" sz="2400" dirty="0"/>
          </a:p>
          <a:p>
            <a:pPr marL="0" indent="0" algn="r" rtl="1">
              <a:buNone/>
            </a:pPr>
            <a:endParaRPr lang="en-US" dirty="0"/>
          </a:p>
        </p:txBody>
      </p:sp>
      <p:pic>
        <p:nvPicPr>
          <p:cNvPr id="6" name="Picture 4" descr="C:\Users\MD\Desktop\download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91457"/>
            <a:ext cx="2914650" cy="1642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2807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ln>
            <a:noFill/>
          </a:ln>
        </p:spPr>
        <p:txBody>
          <a:bodyPr>
            <a:normAutofit/>
          </a:bodyPr>
          <a:lstStyle/>
          <a:p>
            <a:pPr algn="ctr"/>
            <a:r>
              <a:rPr lang="en-US" sz="2800" dirty="0"/>
              <a:t>login</a:t>
            </a:r>
            <a:endParaRPr lang="en-US" sz="4000" dirty="0"/>
          </a:p>
        </p:txBody>
      </p:sp>
      <p:pic>
        <p:nvPicPr>
          <p:cNvPr id="10" name="Content Placeholder 9"/>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343400" y="1600200"/>
            <a:ext cx="4648200" cy="4800600"/>
          </a:xfrm>
        </p:spPr>
      </p:pic>
      <p:sp>
        <p:nvSpPr>
          <p:cNvPr id="6" name="Text Placeholder 5"/>
          <p:cNvSpPr>
            <a:spLocks noGrp="1"/>
          </p:cNvSpPr>
          <p:nvPr>
            <p:ph type="body" sz="half" idx="2"/>
          </p:nvPr>
        </p:nvSpPr>
        <p:spPr/>
        <p:txBody>
          <a:bodyPr/>
          <a:lstStyle/>
          <a:p>
            <a:pPr algn="ctr" rtl="1"/>
            <a:r>
              <a:rPr lang="ar-SA" sz="2400" dirty="0">
                <a:solidFill>
                  <a:schemeClr val="tx1"/>
                </a:solidFill>
              </a:rPr>
              <a:t>صفحة </a:t>
            </a:r>
            <a:r>
              <a:rPr lang="ar-SY" sz="2400" dirty="0">
                <a:solidFill>
                  <a:schemeClr val="tx1"/>
                </a:solidFill>
              </a:rPr>
              <a:t>تسجيل الدخول</a:t>
            </a:r>
            <a:endParaRPr lang="en-US" dirty="0"/>
          </a:p>
          <a:p>
            <a:endParaRPr lang="en-US" dirty="0"/>
          </a:p>
        </p:txBody>
      </p:sp>
      <p:sp>
        <p:nvSpPr>
          <p:cNvPr id="7" name="Rectangle 6"/>
          <p:cNvSpPr/>
          <p:nvPr/>
        </p:nvSpPr>
        <p:spPr>
          <a:xfrm>
            <a:off x="5546725" y="762000"/>
            <a:ext cx="1676400" cy="646331"/>
          </a:xfrm>
          <a:prstGeom prst="rect">
            <a:avLst/>
          </a:prstGeom>
        </p:spPr>
        <p:txBody>
          <a:bodyPr wrap="square">
            <a:spAutoFit/>
          </a:bodyPr>
          <a:lstStyle/>
          <a:p>
            <a:pPr algn="ctr"/>
            <a:r>
              <a:rPr lang="en-US" sz="3600" b="1" i="1" dirty="0"/>
              <a:t>login</a:t>
            </a:r>
          </a:p>
        </p:txBody>
      </p:sp>
      <p:sp>
        <p:nvSpPr>
          <p:cNvPr id="11" name="Rectangle 10"/>
          <p:cNvSpPr/>
          <p:nvPr/>
        </p:nvSpPr>
        <p:spPr>
          <a:xfrm>
            <a:off x="4724400" y="435233"/>
            <a:ext cx="2746265" cy="461665"/>
          </a:xfrm>
          <a:prstGeom prst="rect">
            <a:avLst/>
          </a:prstGeom>
        </p:spPr>
        <p:txBody>
          <a:bodyPr wrap="none">
            <a:spAutoFit/>
          </a:bodyPr>
          <a:lstStyle/>
          <a:p>
            <a:r>
              <a:rPr lang="ar-SY" sz="2400" b="1" i="1" dirty="0"/>
              <a:t>التطبيق العملي: الواجهات</a:t>
            </a:r>
            <a:endParaRPr lang="en-US" sz="2400" b="1" i="1" dirty="0"/>
          </a:p>
        </p:txBody>
      </p:sp>
    </p:spTree>
    <p:extLst>
      <p:ext uri="{BB962C8B-B14F-4D97-AF65-F5344CB8AC3E}">
        <p14:creationId xmlns:p14="http://schemas.microsoft.com/office/powerpoint/2010/main" val="753673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Dashbord</a:t>
            </a:r>
            <a:endParaRPr lang="en-US" dirty="0"/>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267200" y="1506962"/>
            <a:ext cx="4648200" cy="4741438"/>
          </a:xfrm>
        </p:spPr>
      </p:pic>
      <p:sp>
        <p:nvSpPr>
          <p:cNvPr id="4" name="Text Placeholder 3"/>
          <p:cNvSpPr>
            <a:spLocks noGrp="1"/>
          </p:cNvSpPr>
          <p:nvPr>
            <p:ph type="body" sz="half" idx="2"/>
          </p:nvPr>
        </p:nvSpPr>
        <p:spPr/>
        <p:txBody>
          <a:bodyPr/>
          <a:lstStyle/>
          <a:p>
            <a:pPr algn="r" rtl="1"/>
            <a:r>
              <a:rPr lang="ar-SY" sz="2400" dirty="0">
                <a:solidFill>
                  <a:schemeClr val="tx1"/>
                </a:solidFill>
              </a:rPr>
              <a:t>الرسم البياني يعرض كيفية تطور</a:t>
            </a:r>
            <a:r>
              <a:rPr lang="en-US" sz="2400" dirty="0">
                <a:solidFill>
                  <a:schemeClr val="tx1"/>
                </a:solidFill>
              </a:rPr>
              <a:t> dataset</a:t>
            </a:r>
            <a:r>
              <a:rPr lang="ar-SY" sz="2400" dirty="0">
                <a:solidFill>
                  <a:schemeClr val="tx1"/>
                </a:solidFill>
              </a:rPr>
              <a:t> بمرور الوقت</a:t>
            </a:r>
            <a:endParaRPr lang="en-US" sz="2400" dirty="0">
              <a:solidFill>
                <a:schemeClr val="tx1"/>
              </a:solidFill>
            </a:endParaRPr>
          </a:p>
          <a:p>
            <a:br>
              <a:rPr lang="en-US" dirty="0"/>
            </a:br>
            <a:endParaRPr lang="en-US" dirty="0"/>
          </a:p>
          <a:p>
            <a:endParaRPr lang="en-US" dirty="0"/>
          </a:p>
        </p:txBody>
      </p:sp>
    </p:spTree>
    <p:extLst>
      <p:ext uri="{BB962C8B-B14F-4D97-AF65-F5344CB8AC3E}">
        <p14:creationId xmlns:p14="http://schemas.microsoft.com/office/powerpoint/2010/main" val="1245133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patient data</a:t>
            </a: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114800" y="1295400"/>
            <a:ext cx="4953000" cy="5105400"/>
          </a:xfrm>
        </p:spPr>
      </p:pic>
      <p:sp>
        <p:nvSpPr>
          <p:cNvPr id="4" name="Text Placeholder 3"/>
          <p:cNvSpPr>
            <a:spLocks noGrp="1"/>
          </p:cNvSpPr>
          <p:nvPr>
            <p:ph type="body" sz="half" idx="2"/>
          </p:nvPr>
        </p:nvSpPr>
        <p:spPr/>
        <p:txBody>
          <a:bodyPr>
            <a:normAutofit/>
          </a:bodyPr>
          <a:lstStyle/>
          <a:p>
            <a:pPr algn="ctr"/>
            <a:r>
              <a:rPr lang="ar-SA" sz="2600" dirty="0">
                <a:solidFill>
                  <a:schemeClr val="tx1"/>
                </a:solidFill>
              </a:rPr>
              <a:t>صفحة بيانات المرض</a:t>
            </a:r>
            <a:br>
              <a:rPr lang="en-US" dirty="0"/>
            </a:br>
            <a:endParaRPr lang="en-US" dirty="0"/>
          </a:p>
          <a:p>
            <a:endParaRPr lang="en-US" dirty="0"/>
          </a:p>
        </p:txBody>
      </p:sp>
    </p:spTree>
    <p:extLst>
      <p:ext uri="{BB962C8B-B14F-4D97-AF65-F5344CB8AC3E}">
        <p14:creationId xmlns:p14="http://schemas.microsoft.com/office/powerpoint/2010/main" val="1440998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ar-SY" i="1" dirty="0">
                <a:solidFill>
                  <a:schemeClr val="bg1"/>
                </a:solidFill>
                <a:latin typeface="Arial" panose="020B0604020202020204" pitchFamily="34" charset="0"/>
                <a:cs typeface="Arial" panose="020B0604020202020204" pitchFamily="34" charset="0"/>
              </a:rPr>
              <a:t> الرئيسية</a:t>
            </a:r>
            <a:r>
              <a:rPr lang="en-US" i="1" dirty="0">
                <a:solidFill>
                  <a:schemeClr val="bg1"/>
                </a:solidFill>
                <a:latin typeface="Arial" panose="020B0604020202020204" pitchFamily="34" charset="0"/>
                <a:cs typeface="Arial" panose="020B0604020202020204" pitchFamily="34" charset="0"/>
              </a:rPr>
              <a:t>Home</a:t>
            </a:r>
            <a:r>
              <a:rPr lang="ar-SY" i="1" dirty="0">
                <a:solidFill>
                  <a:schemeClr val="bg1"/>
                </a:solidFill>
                <a:latin typeface="Arial" panose="020B0604020202020204" pitchFamily="34" charset="0"/>
                <a:cs typeface="Arial" panose="020B0604020202020204" pitchFamily="34" charset="0"/>
              </a:rPr>
              <a:t> واجهة </a:t>
            </a:r>
            <a:endParaRPr lang="en-US" i="1" dirty="0">
              <a:solidFill>
                <a:schemeClr val="bg1"/>
              </a:solidFill>
              <a:latin typeface="Arial" panose="020B0604020202020204" pitchFamily="34" charset="0"/>
              <a:cs typeface="Arial" panose="020B0604020202020204" pitchFamily="34" charset="0"/>
            </a:endParaRPr>
          </a:p>
        </p:txBody>
      </p:sp>
      <p:sp>
        <p:nvSpPr>
          <p:cNvPr id="10" name="Text Placeholder 9"/>
          <p:cNvSpPr>
            <a:spLocks noGrp="1"/>
          </p:cNvSpPr>
          <p:nvPr>
            <p:ph type="body" sz="half" idx="2"/>
          </p:nvPr>
        </p:nvSpPr>
        <p:spPr/>
        <p:txBody>
          <a:bodyPr>
            <a:normAutofit fontScale="92500"/>
          </a:bodyPr>
          <a:lstStyle/>
          <a:p>
            <a:pPr algn="justLow"/>
            <a:r>
              <a:rPr lang="ar-SY" sz="3200" dirty="0">
                <a:solidFill>
                  <a:schemeClr val="tx1"/>
                </a:solidFill>
              </a:rPr>
              <a:t>الواجهة الرئيسية حيث يتم التنقل بين الصفحات الأربعة الخاصة بالأمراض وإدخال تحاليل المرضى</a:t>
            </a:r>
            <a:r>
              <a:rPr lang="ar-SY" dirty="0"/>
              <a:t> </a:t>
            </a:r>
            <a:endParaRPr lang="en-US" dirty="0"/>
          </a:p>
        </p:txBody>
      </p:sp>
      <p:sp>
        <p:nvSpPr>
          <p:cNvPr id="14" name="Picture Placeholder 13"/>
          <p:cNvSpPr>
            <a:spLocks noGrp="1"/>
          </p:cNvSpPr>
          <p:nvPr>
            <p:ph type="pic" idx="1"/>
          </p:nvPr>
        </p:nvSpPr>
        <p:spPr/>
      </p:sp>
      <p:pic>
        <p:nvPicPr>
          <p:cNvPr id="15" name="صورة 2" descr="Diabetes Prediction">
            <a:extLst>
              <a:ext uri="{FF2B5EF4-FFF2-40B4-BE49-F238E27FC236}">
                <a16:creationId xmlns:a16="http://schemas.microsoft.com/office/drawing/2014/main" id="{4D0ACF03-039E-43AC-BC32-416F640B0FA8}"/>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4419600" y="1324204"/>
            <a:ext cx="4648200" cy="5000395"/>
          </a:xfrm>
          <a:prstGeom prst="rect">
            <a:avLst/>
          </a:prstGeom>
        </p:spPr>
      </p:pic>
    </p:spTree>
    <p:extLst>
      <p:ext uri="{BB962C8B-B14F-4D97-AF65-F5344CB8AC3E}">
        <p14:creationId xmlns:p14="http://schemas.microsoft.com/office/powerpoint/2010/main" val="1144533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2" descr="Breast Cancer">
            <a:extLst>
              <a:ext uri="{FF2B5EF4-FFF2-40B4-BE49-F238E27FC236}">
                <a16:creationId xmlns:a16="http://schemas.microsoft.com/office/drawing/2014/main" id="{BA0F1065-15BA-424A-9EA2-94983570E222}"/>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9050" y="1828800"/>
            <a:ext cx="3181350" cy="4718050"/>
          </a:xfrm>
          <a:prstGeom prst="rect">
            <a:avLst/>
          </a:prstGeom>
        </p:spPr>
      </p:pic>
      <p:sp>
        <p:nvSpPr>
          <p:cNvPr id="5" name="Title 4"/>
          <p:cNvSpPr>
            <a:spLocks noGrp="1"/>
          </p:cNvSpPr>
          <p:nvPr>
            <p:ph type="title"/>
          </p:nvPr>
        </p:nvSpPr>
        <p:spPr/>
        <p:txBody>
          <a:bodyPr/>
          <a:lstStyle/>
          <a:p>
            <a:pPr algn="ctr"/>
            <a:r>
              <a:rPr lang="ar-SY" sz="2400" dirty="0">
                <a:solidFill>
                  <a:schemeClr val="bg1"/>
                </a:solidFill>
                <a:latin typeface="Arial" panose="020B0604020202020204" pitchFamily="34" charset="0"/>
                <a:cs typeface="Arial" panose="020B0604020202020204" pitchFamily="34" charset="0"/>
              </a:rPr>
              <a:t> الرئيسية</a:t>
            </a:r>
            <a:r>
              <a:rPr lang="en-US" sz="2400" dirty="0">
                <a:solidFill>
                  <a:schemeClr val="bg1"/>
                </a:solidFill>
                <a:latin typeface="Arial" panose="020B0604020202020204" pitchFamily="34" charset="0"/>
                <a:cs typeface="Arial" panose="020B0604020202020204" pitchFamily="34" charset="0"/>
              </a:rPr>
              <a:t>Home</a:t>
            </a:r>
            <a:r>
              <a:rPr lang="ar-SY" sz="2400" dirty="0">
                <a:solidFill>
                  <a:schemeClr val="bg1"/>
                </a:solidFill>
                <a:latin typeface="Arial" panose="020B0604020202020204" pitchFamily="34" charset="0"/>
                <a:cs typeface="Arial" panose="020B0604020202020204" pitchFamily="34" charset="0"/>
              </a:rPr>
              <a:t> واجهة </a:t>
            </a:r>
            <a:endParaRPr lang="en-US" sz="2400" dirty="0"/>
          </a:p>
        </p:txBody>
      </p:sp>
      <p:pic>
        <p:nvPicPr>
          <p:cNvPr id="6" name="صورة 2" descr="Heart Disease Prediction">
            <a:extLst>
              <a:ext uri="{FF2B5EF4-FFF2-40B4-BE49-F238E27FC236}">
                <a16:creationId xmlns:a16="http://schemas.microsoft.com/office/drawing/2014/main" id="{EBD73925-8995-49F5-B112-B1DCECA5326A}"/>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3200401" y="1828800"/>
            <a:ext cx="3048000" cy="4718050"/>
          </a:xfrm>
          <a:prstGeom prst="rect">
            <a:avLst/>
          </a:prstGeom>
        </p:spPr>
      </p:pic>
      <p:pic>
        <p:nvPicPr>
          <p:cNvPr id="7" name="صورة 2" descr="Parkinsonsr Pediction">
            <a:extLst>
              <a:ext uri="{FF2B5EF4-FFF2-40B4-BE49-F238E27FC236}">
                <a16:creationId xmlns:a16="http://schemas.microsoft.com/office/drawing/2014/main" id="{84B3B262-B41A-4CE1-BEB2-E58A6A6058B4}"/>
              </a:ext>
            </a:extLst>
          </p:cNvPr>
          <p:cNvPicPr>
            <a:picLocks noGrp="1" noChangeAspect="1"/>
          </p:cNvPicPr>
          <p:nvPr isPhoto="1"/>
        </p:nvPicPr>
        <p:blipFill>
          <a:blip r:embed="rId4">
            <a:lum/>
            <a:extLst>
              <a:ext uri="{28A0092B-C50C-407E-A947-70E740481C1C}">
                <a14:useLocalDpi xmlns:a14="http://schemas.microsoft.com/office/drawing/2010/main" val="0"/>
              </a:ext>
            </a:extLst>
          </a:blip>
          <a:stretch>
            <a:fillRect/>
          </a:stretch>
        </p:blipFill>
        <p:spPr>
          <a:xfrm>
            <a:off x="6096000" y="1828800"/>
            <a:ext cx="3048000" cy="4718050"/>
          </a:xfrm>
          <a:prstGeom prst="rect">
            <a:avLst/>
          </a:prstGeom>
        </p:spPr>
      </p:pic>
    </p:spTree>
    <p:extLst>
      <p:ext uri="{BB962C8B-B14F-4D97-AF65-F5344CB8AC3E}">
        <p14:creationId xmlns:p14="http://schemas.microsoft.com/office/powerpoint/2010/main" val="12337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A" dirty="0">
                <a:cs typeface="+mn-cs"/>
              </a:rPr>
              <a:t>التحديات و الحلول</a:t>
            </a:r>
            <a:r>
              <a:rPr lang="ar-SA" sz="4000" dirty="0"/>
              <a:t>:</a:t>
            </a:r>
            <a:br>
              <a:rPr lang="en-US" dirty="0"/>
            </a:br>
            <a:endParaRPr lang="en-US" dirty="0"/>
          </a:p>
        </p:txBody>
      </p:sp>
      <p:sp>
        <p:nvSpPr>
          <p:cNvPr id="3" name="Content Placeholder 2"/>
          <p:cNvSpPr>
            <a:spLocks noGrp="1"/>
          </p:cNvSpPr>
          <p:nvPr>
            <p:ph idx="1"/>
          </p:nvPr>
        </p:nvSpPr>
        <p:spPr>
          <a:xfrm>
            <a:off x="866441" y="2489200"/>
            <a:ext cx="6343201" cy="4140200"/>
          </a:xfrm>
        </p:spPr>
        <p:txBody>
          <a:bodyPr>
            <a:noAutofit/>
          </a:bodyPr>
          <a:lstStyle/>
          <a:p>
            <a:pPr marL="0" indent="0" algn="r" rtl="1">
              <a:buNone/>
            </a:pPr>
            <a:r>
              <a:rPr lang="en-US" sz="2000" b="1" i="1" dirty="0">
                <a:latin typeface="Arial" panose="020B0604020202020204" pitchFamily="34" charset="0"/>
                <a:cs typeface="Arial" panose="020B0604020202020204" pitchFamily="34" charset="0"/>
              </a:rPr>
              <a:t> </a:t>
            </a:r>
            <a:r>
              <a:rPr lang="ar-SY" sz="2000" b="1" i="1" dirty="0">
                <a:latin typeface="Arial" panose="020B0604020202020204" pitchFamily="34" charset="0"/>
                <a:cs typeface="Arial" panose="020B0604020202020204" pitchFamily="34" charset="0"/>
              </a:rPr>
              <a:t> الخصوصية والأمان:</a:t>
            </a:r>
            <a:endParaRPr lang="en-US" sz="2000" dirty="0">
              <a:latin typeface="Arial" panose="020B0604020202020204" pitchFamily="34" charset="0"/>
              <a:cs typeface="Arial" panose="020B0604020202020204" pitchFamily="34" charset="0"/>
            </a:endParaRPr>
          </a:p>
          <a:p>
            <a:pPr marL="0" indent="0" algn="r" rtl="1">
              <a:buNone/>
            </a:pPr>
            <a:r>
              <a:rPr lang="ar-SY" sz="2000" dirty="0">
                <a:latin typeface="Arial" panose="020B0604020202020204" pitchFamily="34" charset="0"/>
                <a:cs typeface="Arial" panose="020B0604020202020204" pitchFamily="34" charset="0"/>
              </a:rPr>
              <a:t>- التحدي: التعامل مع بيانات حساسة للمرضى يتطلب حماية قوية للخصوصية.</a:t>
            </a:r>
            <a:endParaRPr lang="en-US" sz="2000" dirty="0">
              <a:latin typeface="Arial" panose="020B0604020202020204" pitchFamily="34" charset="0"/>
              <a:cs typeface="Arial" panose="020B0604020202020204" pitchFamily="34" charset="0"/>
            </a:endParaRPr>
          </a:p>
          <a:p>
            <a:pPr marL="0" indent="0" algn="r" rtl="1">
              <a:buNone/>
            </a:pPr>
            <a:r>
              <a:rPr lang="ar-SY" sz="2000" dirty="0">
                <a:latin typeface="Arial" panose="020B0604020202020204" pitchFamily="34" charset="0"/>
                <a:cs typeface="Arial" panose="020B0604020202020204" pitchFamily="34" charset="0"/>
              </a:rPr>
              <a:t>- الحل: تطبيق تدابير أمنية متقدمة مثل التشفير وإجراءات حماية البيانات. الالتزام بالمعايير القانونية وتوفيرتدريب للموظفين حول أهمية البيانات.</a:t>
            </a:r>
            <a:endParaRPr lang="en-US" sz="2000" dirty="0">
              <a:latin typeface="Arial" panose="020B0604020202020204" pitchFamily="34" charset="0"/>
              <a:cs typeface="Arial" panose="020B0604020202020204" pitchFamily="34" charset="0"/>
            </a:endParaRPr>
          </a:p>
          <a:p>
            <a:pPr marL="0" indent="0" algn="r" rtl="1">
              <a:buNone/>
            </a:pPr>
            <a:r>
              <a:rPr lang="ar-SY" sz="2000" b="1" i="1" dirty="0">
                <a:latin typeface="Arial" panose="020B0604020202020204" pitchFamily="34" charset="0"/>
                <a:cs typeface="Arial" panose="020B0604020202020204" pitchFamily="34" charset="0"/>
              </a:rPr>
              <a:t> تقبل المستخدمين:</a:t>
            </a:r>
            <a:endParaRPr lang="en-US" sz="2000" dirty="0">
              <a:latin typeface="Arial" panose="020B0604020202020204" pitchFamily="34" charset="0"/>
              <a:cs typeface="Arial" panose="020B0604020202020204" pitchFamily="34" charset="0"/>
            </a:endParaRPr>
          </a:p>
          <a:p>
            <a:pPr marL="0" indent="0" algn="r" rtl="1">
              <a:buNone/>
            </a:pPr>
            <a:r>
              <a:rPr lang="ar-SY" sz="2000" dirty="0">
                <a:latin typeface="Arial" panose="020B0604020202020204" pitchFamily="34" charset="0"/>
                <a:cs typeface="Arial" panose="020B0604020202020204" pitchFamily="34" charset="0"/>
              </a:rPr>
              <a:t>- التحدي: قد يواجه الأطباء مقاومة لتبني التكنولوجيا الجديدة.</a:t>
            </a:r>
            <a:endParaRPr lang="en-US" sz="2000" dirty="0">
              <a:latin typeface="Arial" panose="020B0604020202020204" pitchFamily="34" charset="0"/>
              <a:cs typeface="Arial" panose="020B0604020202020204" pitchFamily="34" charset="0"/>
            </a:endParaRPr>
          </a:p>
          <a:p>
            <a:pPr marL="0" indent="0" algn="r" rtl="1">
              <a:buNone/>
            </a:pPr>
            <a:r>
              <a:rPr lang="ar-SY" sz="2000" dirty="0">
                <a:latin typeface="Arial" panose="020B0604020202020204" pitchFamily="34" charset="0"/>
                <a:cs typeface="Arial" panose="020B0604020202020204" pitchFamily="34" charset="0"/>
              </a:rPr>
              <a:t>- الحل: توفير دورات تدريبية شاملة وورش عمل لتعريف الأطباء بفوائد البرنامج وكيفية استخدامه بشكل فعال. إشراك الأطباء في مراحل تطوير البرنامج للحصول على آرائهم وملاحظاتهم.تدريب للموظفين حول أهمية حماية البيانات</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80982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r-SA" sz="3200" b="1" i="1" dirty="0">
                <a:solidFill>
                  <a:schemeClr val="bg1"/>
                </a:solidFill>
                <a:latin typeface="Arial" panose="020B0604020202020204" pitchFamily="34" charset="0"/>
                <a:cs typeface="Arial" panose="020B0604020202020204" pitchFamily="34" charset="0"/>
              </a:rPr>
              <a:t>الخاتمة</a:t>
            </a:r>
            <a:r>
              <a:rPr lang="ar-SA" b="1" i="1" dirty="0">
                <a:solidFill>
                  <a:schemeClr val="bg1"/>
                </a:solidFill>
              </a:rPr>
              <a:t>:</a:t>
            </a:r>
            <a:br>
              <a:rPr lang="en-US" dirty="0"/>
            </a:br>
            <a:endParaRPr lang="en-US" dirty="0"/>
          </a:p>
        </p:txBody>
      </p:sp>
      <p:sp>
        <p:nvSpPr>
          <p:cNvPr id="3" name="Text Placeholder 2"/>
          <p:cNvSpPr>
            <a:spLocks noGrp="1"/>
          </p:cNvSpPr>
          <p:nvPr>
            <p:ph type="body" sz="half" idx="2"/>
          </p:nvPr>
        </p:nvSpPr>
        <p:spPr/>
        <p:txBody>
          <a:bodyPr>
            <a:normAutofit fontScale="92500"/>
          </a:bodyPr>
          <a:lstStyle/>
          <a:p>
            <a:pPr algn="justLow" rtl="1"/>
            <a:r>
              <a:rPr lang="ar-SA" sz="2600" b="1" dirty="0"/>
              <a:t>في الختام، يمثل برنامج الذكاء الاصطناعي هذا رؤية مستقبلية للرعاية الصحية، حيث يتم دمج التكنولوجيا مع المعرفة الطبية التقليدية لتحقيق</a:t>
            </a:r>
            <a:r>
              <a:rPr lang="en-US" sz="2600" dirty="0"/>
              <a:t> </a:t>
            </a:r>
            <a:r>
              <a:rPr lang="ar-SA" sz="2600" b="1" dirty="0"/>
              <a:t>نتائج صحية أفضل</a:t>
            </a:r>
            <a:r>
              <a:rPr lang="ar-SA" sz="2600" b="1" i="1" dirty="0"/>
              <a:t>. </a:t>
            </a:r>
            <a:r>
              <a:rPr lang="ar-SA" sz="2600" b="1" dirty="0"/>
              <a:t>من خلال توفير أدوات تشخيص دقيقة وسريعة بناء على بيانات التحاليل</a:t>
            </a:r>
            <a:r>
              <a:rPr lang="ar-SA" sz="2600" b="1"/>
              <a:t>، يسعى</a:t>
            </a:r>
            <a:endParaRPr lang="en-US" sz="2600"/>
          </a:p>
          <a:p>
            <a:pPr algn="justLow" rtl="1"/>
            <a:r>
              <a:rPr lang="ar-SA" sz="2600" b="1"/>
              <a:t>البرنامج إلى تحسين جودة الحياة للمرضى وتقديم </a:t>
            </a:r>
            <a:r>
              <a:rPr lang="ar-SA" sz="2600" b="1" i="1"/>
              <a:t> </a:t>
            </a:r>
            <a:r>
              <a:rPr lang="ar-SA" sz="2600" b="1"/>
              <a:t>رعاية صحية أكثر فعالية واستدامة.</a:t>
            </a:r>
            <a:endParaRPr lang="en-US" sz="2600"/>
          </a:p>
          <a:p>
            <a:endParaRPr lang="en-US" dirty="0"/>
          </a:p>
        </p:txBody>
      </p:sp>
    </p:spTree>
    <p:extLst>
      <p:ext uri="{BB962C8B-B14F-4D97-AF65-F5344CB8AC3E}">
        <p14:creationId xmlns:p14="http://schemas.microsoft.com/office/powerpoint/2010/main" val="21950760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tint val="100000"/>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F1C4790-FE3C-4020-8CA7-00621DA7BB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677</TotalTime>
  <Words>676</Words>
  <Application>Microsoft Office PowerPoint</Application>
  <PresentationFormat>عرض على الشاشة (4:3)</PresentationFormat>
  <Paragraphs>62</Paragraphs>
  <Slides>17</Slides>
  <Notes>1</Notes>
  <HiddenSlides>0</HiddenSlides>
  <MMClips>0</MMClips>
  <ScaleCrop>false</ScaleCrop>
  <HeadingPairs>
    <vt:vector size="6" baseType="variant">
      <vt:variant>
        <vt:lpstr>الخطوط المستخدمة</vt:lpstr>
      </vt:variant>
      <vt:variant>
        <vt:i4>10</vt:i4>
      </vt:variant>
      <vt:variant>
        <vt:lpstr>نسق</vt:lpstr>
      </vt:variant>
      <vt:variant>
        <vt:i4>1</vt:i4>
      </vt:variant>
      <vt:variant>
        <vt:lpstr>عناوين الشرائح</vt:lpstr>
      </vt:variant>
      <vt:variant>
        <vt:i4>17</vt:i4>
      </vt:variant>
    </vt:vector>
  </HeadingPairs>
  <TitlesOfParts>
    <vt:vector size="28" baseType="lpstr">
      <vt:lpstr>Aldhabi</vt:lpstr>
      <vt:lpstr>Arial</vt:lpstr>
      <vt:lpstr>Arial Unicode MS</vt:lpstr>
      <vt:lpstr>Calibri</vt:lpstr>
      <vt:lpstr>Century Gothic</vt:lpstr>
      <vt:lpstr>Fira Sans</vt:lpstr>
      <vt:lpstr>Fira Sans Medium</vt:lpstr>
      <vt:lpstr>Fira Sans SemiBold</vt:lpstr>
      <vt:lpstr>Times New Roman</vt:lpstr>
      <vt:lpstr>Wingdings 3</vt:lpstr>
      <vt:lpstr>Ion Boardroom</vt:lpstr>
      <vt:lpstr>عرض تقديمي في PowerPoint</vt:lpstr>
      <vt:lpstr>  تشكل الأمراض المزمنة مثل الأمراض القلبية، والسكري و مرض باركنسون، وسرطان الثدي تحديًا صحيًا كبيرًا يؤثر على ملايين الأشخاص حول العالم تتطلب هذه الأمراض جهودًا مستمرة لفهمها وعلاجها بفعالية، مما يبرز أهمية التطورات التكنولوجية في تقديم حلول جديدة. مع تقدم التكنولوجيا، أصبحت هناك إمكانيات جديدة ورائدة لمواجهة هذه التحديات، حيث يتيح الذكاء الاصطناعي وتعلم الآلة تحسين دقة التشخيص، وتوفير أدوات تحليل متقدمة، والتنبؤ بمخاطر الإصابة مبكرًا. من خلال دمج هذه التقنيات، يمكننا تعزيز فعالية الرعاية الصحية، </vt:lpstr>
      <vt:lpstr> يهدف المشروع إلى دمج تقنيات الذكاء الاصطناعي في مجال الطب، لتطوير نماذج قادرة على التعرف على الأنماط والتنبؤ بالتطورات المرضية في حالات أمراض القلب، والسرطان، وباركنسون. من خلال تجميع وتحليل البيانات الطبية الضخمة و سيقدم النظام أدوات تشخيص وتوقع مبكرة. من خلال تسريع عملية التشخيص وزيادة دقتها، سيساعد المشروع في تحسين جودة الرعاية الصحية، وتقليل التكلفة الإجمالية للعلاج، وزيادة فرص النجاة للمرضى من الأمراض القلبية ومرض      باركنسون وسرطان الثدي والسكري.  </vt:lpstr>
      <vt:lpstr> الذكاء الصنعي: فرع من علوم الحاسوب يهدف إلى إنشاء أنظمة قادرة على تنفيذ مهام تتطلب عادةً ذكاء بشري. يشمل هذا التفكير المنطقي، التعلم، التفسير، والفهم. تعليم الآلة:هو فرع من الذكاء الاصطناعي يركز على تطوير خوارزميات ونماذج تمكن الأنظمة من التعلم من البيانات وتحسين أدائها بمرور الوقت دون الحاجة إلى برمجة صريحة لكل مهمة.  </vt:lpstr>
      <vt:lpstr>عرض تقديمي في PowerPoint</vt:lpstr>
      <vt:lpstr>عرض تقديمي في PowerPoint</vt:lpstr>
      <vt:lpstr>عرض تقديمي في PowerPoint</vt:lpstr>
      <vt:lpstr>:Pandas</vt:lpstr>
      <vt:lpstr>streamlit</vt:lpstr>
      <vt:lpstr>Sci-kit learn</vt:lpstr>
      <vt:lpstr>login</vt:lpstr>
      <vt:lpstr>Dashbord</vt:lpstr>
      <vt:lpstr>patient data</vt:lpstr>
      <vt:lpstr> الرئيسيةHome واجهة </vt:lpstr>
      <vt:lpstr> الرئيسيةHome واجهة </vt:lpstr>
      <vt:lpstr>التحديات و الحلول: </vt:lpstr>
      <vt:lpstr>الخاتمة: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dc:creator>
  <cp:lastModifiedBy>ASUS</cp:lastModifiedBy>
  <cp:revision>29</cp:revision>
  <dcterms:created xsi:type="dcterms:W3CDTF">2006-08-16T00:00:00Z</dcterms:created>
  <dcterms:modified xsi:type="dcterms:W3CDTF">2026-10-23T19:01:01Z</dcterms:modified>
</cp:coreProperties>
</file>